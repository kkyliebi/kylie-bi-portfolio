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9" r:id="rId3"/>
    <p:sldId id="260" r:id="rId4"/>
    <p:sldId id="262" r:id="rId5"/>
    <p:sldId id="261" r:id="rId6"/>
    <p:sldId id="267" r:id="rId7"/>
    <p:sldId id="272" r:id="rId8"/>
    <p:sldId id="263" r:id="rId9"/>
    <p:sldId id="265" r:id="rId10"/>
    <p:sldId id="273" r:id="rId11"/>
    <p:sldId id="266" r:id="rId12"/>
    <p:sldId id="274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/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21" name="标题文本"/>
          <p:cNvSpPr txBox="1"/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/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/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/>
          <p:nvPr>
            <p:ph type="pic" sz="half" idx="13"/>
          </p:nvPr>
        </p:nvSpPr>
        <p:spPr>
          <a:xfrm>
            <a:off x="13169900" y="952500"/>
            <a:ext cx="95250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标题文本"/>
          <p:cNvSpPr txBox="1"/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/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/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66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/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buClrTx/>
              <a:defRPr sz="3800"/>
            </a:lvl1pPr>
            <a:lvl2pPr marL="1117600" indent="-558800">
              <a:spcBef>
                <a:spcPts val="4500"/>
              </a:spcBef>
              <a:buClrTx/>
              <a:defRPr sz="3800"/>
            </a:lvl2pPr>
            <a:lvl3pPr marL="1676400" indent="-558800">
              <a:spcBef>
                <a:spcPts val="4500"/>
              </a:spcBef>
              <a:buClrTx/>
              <a:defRPr sz="3800"/>
            </a:lvl3pPr>
            <a:lvl4pPr marL="2235200" indent="-558800">
              <a:spcBef>
                <a:spcPts val="4500"/>
              </a:spcBef>
              <a:buClrTx/>
              <a:defRPr sz="3800"/>
            </a:lvl4pPr>
            <a:lvl5pPr marL="2794000" indent="-558800">
              <a:spcBef>
                <a:spcPts val="4500"/>
              </a:spcBef>
              <a:buClrTx/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/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/>
          <p:nvPr>
            <p:ph type="pic" sz="quarter" idx="13"/>
          </p:nvPr>
        </p:nvSpPr>
        <p:spPr>
          <a:xfrm>
            <a:off x="15760700" y="68707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图像"/>
          <p:cNvSpPr/>
          <p:nvPr>
            <p:ph type="pic" sz="quarter" idx="14"/>
          </p:nvPr>
        </p:nvSpPr>
        <p:spPr>
          <a:xfrm>
            <a:off x="15760700" y="952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5" name="图像"/>
          <p:cNvSpPr/>
          <p:nvPr>
            <p:ph type="pic" idx="15"/>
          </p:nvPr>
        </p:nvSpPr>
        <p:spPr>
          <a:xfrm>
            <a:off x="1206500" y="9525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 hasCustomPrompt="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/>
          <p:nvPr>
            <p:ph type="body" sz="quarter" idx="14" hasCustomPrompt="1"/>
          </p:nvPr>
        </p:nvSpPr>
        <p:spPr>
          <a:xfrm>
            <a:off x="2387600" y="6013450"/>
            <a:ext cx="19621500" cy="952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/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5.jpe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0.jpeg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2.jpeg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8.jpeg"/><Relationship Id="rId7" Type="http://schemas.openxmlformats.org/officeDocument/2006/relationships/image" Target="../media/image37.jpeg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3.jpeg"/><Relationship Id="rId7" Type="http://schemas.openxmlformats.org/officeDocument/2006/relationships/image" Target="../media/image42.jpeg"/><Relationship Id="rId6" Type="http://schemas.openxmlformats.org/officeDocument/2006/relationships/image" Target="../media/image41.jpeg"/><Relationship Id="rId5" Type="http://schemas.openxmlformats.org/officeDocument/2006/relationships/image" Target="../media/image33.jpe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5.jpeg"/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33.jpeg"/><Relationship Id="rId3" Type="http://schemas.openxmlformats.org/officeDocument/2006/relationships/image" Target="../media/image44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成组"/>
          <p:cNvGrpSpPr/>
          <p:nvPr/>
        </p:nvGrpSpPr>
        <p:grpSpPr>
          <a:xfrm>
            <a:off x="45203" y="3197"/>
            <a:ext cx="24384001" cy="13758053"/>
            <a:chOff x="0" y="0"/>
            <a:chExt cx="24384000" cy="13758051"/>
          </a:xfrm>
        </p:grpSpPr>
        <p:pic>
          <p:nvPicPr>
            <p:cNvPr id="119" name="截屏2021-03-28 上午12.32.30.png" descr="截屏2021-03-28 上午12.32.30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4000" cy="1375805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20" name="截屏2021-03-28 上午12.32.30.png" descr="截屏2021-03-28 上午12.32.30.png"/>
            <p:cNvPicPr>
              <a:picLocks noChangeAspect="1"/>
            </p:cNvPicPr>
            <p:nvPr/>
          </p:nvPicPr>
          <p:blipFill>
            <a:blip r:embed="rId1"/>
            <a:srcRect l="1201" t="4399" r="1201" b="57341"/>
            <a:stretch>
              <a:fillRect/>
            </a:stretch>
          </p:blipFill>
          <p:spPr>
            <a:xfrm>
              <a:off x="292885" y="3655472"/>
              <a:ext cx="23798230" cy="526363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22" name="场景设计…"/>
          <p:cNvSpPr txBox="1"/>
          <p:nvPr/>
        </p:nvSpPr>
        <p:spPr>
          <a:xfrm>
            <a:off x="9444355" y="5317300"/>
            <a:ext cx="5495290" cy="179387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6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rPr lang="zh-CN"/>
              <a:t>拍摄内容</a:t>
            </a:r>
            <a:endParaRPr lang="zh-CN"/>
          </a:p>
          <a:p>
            <a:pPr>
              <a:defRPr sz="5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S</a:t>
            </a:r>
            <a:r>
              <a:rPr lang="en-US"/>
              <a:t>hooting</a:t>
            </a:r>
            <a:r>
              <a:t> </a:t>
            </a:r>
            <a:r>
              <a:rPr lang="en-US"/>
              <a:t>Content</a:t>
            </a:r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43195" y="100829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sp>
        <p:nvSpPr>
          <p:cNvPr id="139" name="墙面纹理参考"/>
          <p:cNvSpPr txBox="1"/>
          <p:nvPr/>
        </p:nvSpPr>
        <p:spPr>
          <a:xfrm>
            <a:off x="4220900" y="10190108"/>
            <a:ext cx="15851505" cy="65532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36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3600"/>
              <a:t>外观合影 </a:t>
            </a:r>
            <a:r>
              <a:rPr lang="en-US" sz="3600"/>
              <a:t>ckd </a:t>
            </a:r>
            <a:r>
              <a:rPr lang="zh-CN" altLang="en-US" sz="3600"/>
              <a:t>要前</a:t>
            </a:r>
            <a:r>
              <a:rPr lang="en-US" altLang="zh-CN" sz="3600"/>
              <a:t>45</a:t>
            </a:r>
            <a:r>
              <a:rPr lang="zh-CN" altLang="en-US" sz="3600"/>
              <a:t>度；</a:t>
            </a:r>
            <a:r>
              <a:rPr lang="en-US" altLang="zh-CN" sz="3600"/>
              <a:t> spb</a:t>
            </a:r>
            <a:r>
              <a:rPr lang="zh-CN" altLang="en-US" sz="3600"/>
              <a:t>要后</a:t>
            </a:r>
            <a:r>
              <a:rPr lang="en-US" altLang="zh-CN" sz="3600"/>
              <a:t>45</a:t>
            </a:r>
            <a:r>
              <a:rPr lang="zh-CN" altLang="en-US" sz="3600"/>
              <a:t>度（有</a:t>
            </a:r>
            <a:r>
              <a:rPr lang="en-US" altLang="zh-CN" sz="3600"/>
              <a:t>/</a:t>
            </a:r>
            <a:r>
              <a:rPr lang="zh-CN" altLang="en-US" sz="3600"/>
              <a:t>无充电桩）</a:t>
            </a:r>
            <a:endParaRPr lang="zh-CN" altLang="en-US" sz="3600"/>
          </a:p>
        </p:txBody>
      </p:sp>
      <p:pic>
        <p:nvPicPr>
          <p:cNvPr id="8" name="图片 7" descr="9521617067909_.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850" y="3327400"/>
            <a:ext cx="6560820" cy="3646805"/>
          </a:xfrm>
          <a:prstGeom prst="rect">
            <a:avLst/>
          </a:prstGeom>
        </p:spPr>
      </p:pic>
      <p:pic>
        <p:nvPicPr>
          <p:cNvPr id="9" name="图片 8" descr="9531617079981_.p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90" y="2836545"/>
            <a:ext cx="12220575" cy="68618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43195" y="100829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137" name="8C06372F0F4768098BAA216555C31DD4.jpg" descr="/Users/nowa/Desktop/Bigmanooo/2021项目/2021奥迪e-tron公关传播视频拍摄制作/参考文件/卡图文件/WechatIMG934.jpegWechatIMG9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95650" y="2818130"/>
            <a:ext cx="5906770" cy="32975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9" name="墙面纹理参考"/>
          <p:cNvSpPr txBox="1"/>
          <p:nvPr/>
        </p:nvSpPr>
        <p:spPr>
          <a:xfrm>
            <a:off x="6112565" y="9913248"/>
            <a:ext cx="12068175" cy="12090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36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3600"/>
              <a:t>整体外观</a:t>
            </a:r>
            <a:r>
              <a:rPr lang="zh-CN" sz="3600">
                <a:ea typeface="宋体" charset="0"/>
              </a:rPr>
              <a:t>：</a:t>
            </a:r>
            <a:r>
              <a:rPr sz="3600"/>
              <a:t>正面、侧45度、侧面、尾部</a:t>
            </a:r>
            <a:endParaRPr sz="3600"/>
          </a:p>
          <a:p>
            <a:pPr algn="ctr"/>
            <a:r>
              <a:rPr lang="zh-CN" sz="3600"/>
              <a:t>（</a:t>
            </a:r>
            <a:r>
              <a:rPr lang="zh-CN" sz="3600">
                <a:solidFill>
                  <a:schemeClr val="bg1"/>
                </a:solidFill>
                <a:highlight>
                  <a:srgbClr val="00FFFF"/>
                </a:highlight>
              </a:rPr>
              <a:t>需要跟置景元素相结合 两款车置景元素 场景变化区分</a:t>
            </a:r>
            <a:r>
              <a:rPr lang="zh-CN" sz="3600"/>
              <a:t>）</a:t>
            </a:r>
            <a:endParaRPr lang="zh-CN" sz="3600"/>
          </a:p>
        </p:txBody>
      </p:sp>
      <p:pic>
        <p:nvPicPr>
          <p:cNvPr id="3" name="8C06372F0F4768098BAA216555C31DD4.jpg" descr="/Users/nowa/Desktop/Bigmanooo/2021项目/2021奥迪e-tron公关传播视频拍摄制作/参考文件/卡图文件/WechatIMG935.jpegWechatIMG93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228455" y="2816860"/>
            <a:ext cx="5927725" cy="3298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8C06372F0F4768098BAA216555C31DD4.jpg" descr="/Users/nowa/Desktop/Bigmanooo/2021项目/2021奥迪e-tron公关传播视频拍摄制作/参考文件/卡图文件/WechatIMG941.jpegWechatIMG94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95650" y="6285230"/>
            <a:ext cx="5906770" cy="33051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8C06372F0F4768098BAA216555C31DD4.jpg" descr="/Users/nowa/Desktop/Bigmanooo/2021项目/2021奥迪e-tron公关传播视频拍摄制作/参考文件/卡图文件/WechatIMG936.jpegWechatIMG93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5251430" y="2818130"/>
            <a:ext cx="5936615" cy="32975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8C06372F0F4768098BAA216555C31DD4.jpg" descr="/Users/nowa/Desktop/Bigmanooo/2021项目/2021奥迪e-tron公关传播视频拍摄制作/参考文件/卡图文件/WechatIMG942.jpegWechatIMG94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263380" y="6285230"/>
            <a:ext cx="5963920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8C06372F0F4768098BAA216555C31DD4.jpg" descr="/Users/nowa/Desktop/Bigmanooo/2021项目/2021奥迪e-tron公关传播视频拍摄制作/参考文件/卡图文件/WechatIMG946.jpegWechatIMG94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5269528" y="6285865"/>
            <a:ext cx="5927725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1390650" y="11322685"/>
            <a:ext cx="12806680" cy="77851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CKD&amp;SPB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宋体" charset="0"/>
                <a:cs typeface="Helvetica Neue Bold" panose="02000503000000020004" charset="0"/>
                <a:sym typeface="Helvetica Neue Medium" panose="02000503000000020004"/>
              </a:rPr>
              <a:t>（重点区别在侧面和尾部）</a:t>
            </a: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 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两款车</a:t>
            </a:r>
            <a:endParaRPr kumimoji="0" lang="zh-CN" altLang="en-US" sz="440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Bold" panose="02000503000000020004" charset="0"/>
              <a:ea typeface="+mn-ea"/>
              <a:cs typeface="Helvetica Neue Bold" panose="02000503000000020004" charset="0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1890" y="100829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137" name="8C06372F0F4768098BAA216555C31DD4.jpg" descr="/Users/nowa/Desktop/Bigmanooo/2021项目/2021奥迪e-tron公关传播视频拍摄制作/参考文件/图片3/WechatIMG981.jpegWechatIMG981"/>
          <p:cNvPicPr>
            <a:picLocks noChangeAspect="1"/>
          </p:cNvPicPr>
          <p:nvPr/>
        </p:nvPicPr>
        <p:blipFill>
          <a:blip r:embed="rId3"/>
          <a:srcRect l="8376" t="8812" r="57111" b="58319"/>
          <a:stretch>
            <a:fillRect/>
          </a:stretch>
        </p:blipFill>
        <p:spPr>
          <a:xfrm>
            <a:off x="9237345" y="2827020"/>
            <a:ext cx="6351905" cy="32861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墙面纹理参考"/>
          <p:cNvSpPr txBox="1"/>
          <p:nvPr/>
        </p:nvSpPr>
        <p:spPr>
          <a:xfrm>
            <a:off x="4003730" y="6235011"/>
            <a:ext cx="42716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进气格栅</a:t>
            </a:r>
            <a:r>
              <a:rPr lang="en-US" altLang="zh-CN" sz="2400"/>
              <a:t>+</a:t>
            </a:r>
            <a:r>
              <a:rPr lang="zh-CN" altLang="en-US" sz="2400"/>
              <a:t>特写镀铬条</a:t>
            </a:r>
            <a:endParaRPr lang="zh-CN" altLang="en-US" sz="2400"/>
          </a:p>
        </p:txBody>
      </p:sp>
      <p:sp>
        <p:nvSpPr>
          <p:cNvPr id="8" name="墙面纹理参考"/>
          <p:cNvSpPr txBox="1"/>
          <p:nvPr/>
        </p:nvSpPr>
        <p:spPr>
          <a:xfrm>
            <a:off x="10622017" y="6235011"/>
            <a:ext cx="403733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en-US" altLang="zh-CN" sz="2400">
                <a:sym typeface="+mn-ea"/>
              </a:rPr>
              <a:t>Sline </a:t>
            </a:r>
            <a:r>
              <a:rPr lang="zh-CN" altLang="en-US" sz="2400">
                <a:sym typeface="+mn-ea"/>
              </a:rPr>
              <a:t>标志 车头位置</a:t>
            </a:r>
            <a:endParaRPr lang="zh-CN" altLang="en-US" sz="2400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819515" y="1901190"/>
            <a:ext cx="12806680" cy="77851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CKD&amp;SPB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宋体" charset="0"/>
                <a:cs typeface="Helvetica Neue Bold" panose="02000503000000020004" charset="0"/>
                <a:sym typeface="Helvetica Neue Medium" panose="02000503000000020004"/>
              </a:rPr>
              <a:t>（重点区别在侧面和尾部）</a:t>
            </a: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 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两款车</a:t>
            </a:r>
            <a:endParaRPr kumimoji="0" lang="zh-CN" altLang="en-US" sz="440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Bold" panose="02000503000000020004" charset="0"/>
              <a:ea typeface="+mn-ea"/>
              <a:cs typeface="Helvetica Neue Bold" panose="02000503000000020004" charset="0"/>
              <a:sym typeface="Helvetica Neue Medium" panose="02000503000000020004"/>
            </a:endParaRPr>
          </a:p>
        </p:txBody>
      </p:sp>
      <p:pic>
        <p:nvPicPr>
          <p:cNvPr id="11" name="8C06372F0F4768098BAA216555C31DD4.jpg" descr="/Users/nowa/Desktop/Bigmanooo/2021项目/2021奥迪e-tron公关传播视频拍摄制作/参考文件/图片3/WechatIMG981.jpegWechatIMG98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12745" y="2755265"/>
            <a:ext cx="6049645" cy="32861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8C06372F0F4768098BAA216555C31DD4.jpg" descr="/Users/nowa/Desktop/Bigmanooo/2021项目/2021奥迪e-tron公关传播视频拍摄制作/参考文件/卡图文件/WechatIMG924.jpegWechatIMG9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720060" y="2901950"/>
            <a:ext cx="6049645" cy="32924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墙面纹理参考"/>
          <p:cNvSpPr txBox="1"/>
          <p:nvPr/>
        </p:nvSpPr>
        <p:spPr>
          <a:xfrm>
            <a:off x="16315427" y="6316291"/>
            <a:ext cx="431927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sz="2400"/>
              <a:t>车身双腰线</a:t>
            </a:r>
            <a:endParaRPr lang="zh-CN" sz="2400"/>
          </a:p>
        </p:txBody>
      </p:sp>
      <p:pic>
        <p:nvPicPr>
          <p:cNvPr id="15" name="图片 14" descr="10121617238644_.pic"/>
          <p:cNvPicPr>
            <a:picLocks noChangeAspect="1"/>
          </p:cNvPicPr>
          <p:nvPr/>
        </p:nvPicPr>
        <p:blipFill>
          <a:blip r:embed="rId5"/>
          <a:srcRect t="11398"/>
          <a:stretch>
            <a:fillRect/>
          </a:stretch>
        </p:blipFill>
        <p:spPr>
          <a:xfrm>
            <a:off x="2755900" y="6979285"/>
            <a:ext cx="6063615" cy="3460750"/>
          </a:xfrm>
          <a:prstGeom prst="rect">
            <a:avLst/>
          </a:prstGeom>
        </p:spPr>
      </p:pic>
      <p:sp>
        <p:nvSpPr>
          <p:cNvPr id="16" name="墙面纹理参考"/>
          <p:cNvSpPr txBox="1"/>
          <p:nvPr/>
        </p:nvSpPr>
        <p:spPr>
          <a:xfrm>
            <a:off x="2741668" y="10670486"/>
            <a:ext cx="609219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充电口+醒目的e-tron专属橙色标识</a:t>
            </a:r>
            <a:endParaRPr sz="2400"/>
          </a:p>
        </p:txBody>
      </p:sp>
      <p:sp>
        <p:nvSpPr>
          <p:cNvPr id="18" name="墙面纹理参考"/>
          <p:cNvSpPr txBox="1"/>
          <p:nvPr/>
        </p:nvSpPr>
        <p:spPr>
          <a:xfrm>
            <a:off x="10405483" y="10813996"/>
            <a:ext cx="375539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迎宾灯e-tron标识</a:t>
            </a:r>
            <a:endParaRPr sz="2400"/>
          </a:p>
        </p:txBody>
      </p:sp>
      <p:pic>
        <p:nvPicPr>
          <p:cNvPr id="19" name="图片 18" descr="10151617238674_.p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345" y="6979285"/>
            <a:ext cx="6352540" cy="3460750"/>
          </a:xfrm>
          <a:prstGeom prst="rect">
            <a:avLst/>
          </a:prstGeom>
        </p:spPr>
      </p:pic>
      <p:sp>
        <p:nvSpPr>
          <p:cNvPr id="20" name="墙面纹理参考"/>
          <p:cNvSpPr txBox="1"/>
          <p:nvPr/>
        </p:nvSpPr>
        <p:spPr>
          <a:xfrm>
            <a:off x="16318921" y="10603176"/>
            <a:ext cx="4893945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ym typeface="+mn-ea"/>
              </a:rPr>
              <a:t>Sline </a:t>
            </a:r>
            <a:r>
              <a:rPr lang="zh-CN" altLang="en-US" sz="2400">
                <a:sym typeface="+mn-ea"/>
              </a:rPr>
              <a:t>标志发</a:t>
            </a:r>
            <a:r>
              <a:rPr sz="2400"/>
              <a:t>光铝制门槛条</a:t>
            </a:r>
            <a:endParaRPr lang="zh-CN" altLang="en-US" sz="2400">
              <a:sym typeface="+mn-ea"/>
            </a:endParaRPr>
          </a:p>
          <a:p>
            <a:pPr algn="ctr"/>
            <a:endParaRPr sz="2400"/>
          </a:p>
        </p:txBody>
      </p:sp>
      <p:pic>
        <p:nvPicPr>
          <p:cNvPr id="22" name="图片 21" descr="10221617239204_.p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1185" y="6979285"/>
            <a:ext cx="5938520" cy="34880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69865" y="120514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4" name="8C06372F0F4768098BAA216555C31DD4.jpg" descr="/Users/nowa/Desktop/Bigmanooo/2021项目/2021奥迪e-tron公关传播视频拍摄制作/参考文件/图片3/WechatIMG995.jpegWechatIMG99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98065" y="2826703"/>
            <a:ext cx="5906770" cy="32613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8C06372F0F4768098BAA216555C31DD4.jpg" descr="/Users/nowa/Desktop/Bigmanooo/2021项目/2021奥迪e-tron公关传播视频拍摄制作/参考文件/图片3/WechatIMG996.jpegWechatIMG99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06435" y="2807653"/>
            <a:ext cx="6049645" cy="32804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墙面纹理参考"/>
          <p:cNvSpPr txBox="1"/>
          <p:nvPr/>
        </p:nvSpPr>
        <p:spPr>
          <a:xfrm>
            <a:off x="10644877" y="6165796"/>
            <a:ext cx="295021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>
                <a:sym typeface="+mn-ea"/>
              </a:rPr>
              <a:t> </a:t>
            </a:r>
            <a:r>
              <a:rPr lang="zh-CN" sz="2400">
                <a:sym typeface="+mn-ea"/>
              </a:rPr>
              <a:t>运动型轮毂</a:t>
            </a:r>
            <a:endParaRPr lang="zh-CN" sz="2400">
              <a:sym typeface="+mn-ea"/>
            </a:endParaRPr>
          </a:p>
        </p:txBody>
      </p:sp>
      <p:sp>
        <p:nvSpPr>
          <p:cNvPr id="13" name="墙面纹理参考"/>
          <p:cNvSpPr txBox="1"/>
          <p:nvPr/>
        </p:nvSpPr>
        <p:spPr>
          <a:xfrm>
            <a:off x="2731508" y="6245806"/>
            <a:ext cx="503936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sz="2400">
                <a:sym typeface="+mn-ea"/>
              </a:rPr>
              <a:t>运动型轮毂 </a:t>
            </a:r>
            <a:r>
              <a:rPr lang="en-US" altLang="zh-CN" sz="2400">
                <a:sym typeface="+mn-ea"/>
              </a:rPr>
              <a:t>audi sport</a:t>
            </a:r>
            <a:r>
              <a:rPr lang="zh-CN" altLang="en-US" sz="2400">
                <a:sym typeface="+mn-ea"/>
              </a:rPr>
              <a:t>标识</a:t>
            </a:r>
            <a:endParaRPr lang="zh-CN" altLang="en-US" sz="2400">
              <a:sym typeface="+mn-ea"/>
            </a:endParaRPr>
          </a:p>
        </p:txBody>
      </p:sp>
      <p:pic>
        <p:nvPicPr>
          <p:cNvPr id="5" name="8C06372F0F4768098BAA216555C31DD4.jpg" descr="/Users/nowa/Desktop/Bigmanooo/2021项目/2021奥迪e-tron公关传播视频拍摄制作/参考文件/卡图文件/WechatIMG949.jpegWechatIMG94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41040" y="6866255"/>
            <a:ext cx="5797550" cy="32975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9" name="墙面纹理参考"/>
          <p:cNvSpPr txBox="1"/>
          <p:nvPr/>
        </p:nvSpPr>
        <p:spPr>
          <a:xfrm>
            <a:off x="7085385" y="10476493"/>
            <a:ext cx="9436735" cy="53213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8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8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8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8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800"/>
              <a:t>Q8/Urus同款天窗 电动全景式玻璃天窗</a:t>
            </a:r>
            <a:endParaRPr sz="2800"/>
          </a:p>
        </p:txBody>
      </p:sp>
      <p:pic>
        <p:nvPicPr>
          <p:cNvPr id="6" name="8C06372F0F4768098BAA216555C31DD4.jpg" descr="/Users/nowa/Desktop/Bigmanooo/2021项目/2021奥迪e-tron公关传播视频拍摄制作/参考文件/卡图文件/WechatIMG950.jpegWechatIMG95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130030" y="6864985"/>
            <a:ext cx="5906135" cy="3298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8C06372F0F4768098BAA216555C31DD4.jpg" descr="/Users/nowa/Desktop/Bigmanooo/2021项目/2021奥迪e-tron公关传播视频拍摄制作/参考文件/卡图文件/WechatIMG946.jpegWechatIMG94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136813" y="6859270"/>
            <a:ext cx="5927725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1890" y="120514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sp>
        <p:nvSpPr>
          <p:cNvPr id="139" name="墙面纹理参考"/>
          <p:cNvSpPr txBox="1"/>
          <p:nvPr/>
        </p:nvSpPr>
        <p:spPr>
          <a:xfrm>
            <a:off x="8493125" y="10953115"/>
            <a:ext cx="7510145" cy="4705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sz="2400"/>
              <a:t>带有光毯功能的数字矩阵式LED大灯</a:t>
            </a:r>
            <a:endParaRPr lang="en-US" sz="2400"/>
          </a:p>
        </p:txBody>
      </p:sp>
      <p:pic>
        <p:nvPicPr>
          <p:cNvPr id="4" name="8C06372F0F4768098BAA216555C31DD4.jpg" descr="/Users/nowa/Desktop/Bigmanooo/2021项目/2021奥迪e-tron公关传播视频拍摄制作/参考文件/卡图文件/WechatIMG938 1.jpegWechatIMG938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12745" y="7498398"/>
            <a:ext cx="5906770" cy="32753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8C06372F0F4768098BAA216555C31DD4.jpg" descr="/Users/nowa/Desktop/Bigmanooo/2021项目/2021奥迪e-tron公关传播视频拍摄制作/参考文件/卡图文件/WechatIMG947.jpegWechatIMG94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3683" y="2515870"/>
            <a:ext cx="5953125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8C06372F0F4768098BAA216555C31DD4.jpg" descr="/Users/nowa/Desktop/Bigmanooo/2021项目/2021奥迪e-tron公关传播视频拍摄制作/参考文件/卡图文件/WechatIMG948.jpegWechatIMG948"/>
          <p:cNvPicPr>
            <a:picLocks noChangeAspect="1"/>
          </p:cNvPicPr>
          <p:nvPr/>
        </p:nvPicPr>
        <p:blipFill>
          <a:blip r:embed="rId5"/>
          <a:srcRect l="34865" t="41022" r="34799" b="30315"/>
          <a:stretch>
            <a:fillRect/>
          </a:stretch>
        </p:blipFill>
        <p:spPr>
          <a:xfrm>
            <a:off x="15267940" y="2559050"/>
            <a:ext cx="6122035" cy="32467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8C06372F0F4768098BAA216555C31DD4.jpg" descr="/Users/nowa/Desktop/Bigmanooo/2021项目/2021奥迪e-tron公关传播视频拍摄制作/参考文件/图片3/WechatIMG997.jpegWechatIMG99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912745" y="2546668"/>
            <a:ext cx="6049645" cy="32423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墙面纹理参考"/>
          <p:cNvSpPr txBox="1"/>
          <p:nvPr/>
        </p:nvSpPr>
        <p:spPr>
          <a:xfrm>
            <a:off x="3118857" y="6189926"/>
            <a:ext cx="563626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>
                <a:sym typeface="+mn-ea"/>
              </a:rPr>
              <a:t>一汽奥迪标&amp;</a:t>
            </a:r>
            <a:r>
              <a:rPr lang="en-US" sz="2400">
                <a:sym typeface="+mn-ea"/>
              </a:rPr>
              <a:t>etron</a:t>
            </a:r>
            <a:r>
              <a:rPr lang="zh-CN" altLang="en-US" sz="2400">
                <a:sym typeface="+mn-ea"/>
              </a:rPr>
              <a:t>标</a:t>
            </a:r>
            <a:endParaRPr lang="zh-CN" sz="2400"/>
          </a:p>
        </p:txBody>
      </p:sp>
      <p:sp>
        <p:nvSpPr>
          <p:cNvPr id="13" name="矩形 12"/>
          <p:cNvSpPr/>
          <p:nvPr/>
        </p:nvSpPr>
        <p:spPr>
          <a:xfrm>
            <a:off x="8819515" y="1614170"/>
            <a:ext cx="12806680" cy="77851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CKD&amp;SPB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宋体" charset="0"/>
                <a:cs typeface="Helvetica Neue Bold" panose="02000503000000020004" charset="0"/>
                <a:sym typeface="Helvetica Neue Medium" panose="02000503000000020004"/>
              </a:rPr>
              <a:t>（重点区别在侧面和尾部）</a:t>
            </a: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 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两款车</a:t>
            </a:r>
            <a:endParaRPr kumimoji="0" lang="zh-CN" altLang="en-US" sz="440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Bold" panose="02000503000000020004" charset="0"/>
              <a:ea typeface="+mn-ea"/>
              <a:cs typeface="Helvetica Neue Bold" panose="02000503000000020004" charset="0"/>
              <a:sym typeface="Helvetica Neue Medium" panose="02000503000000020004"/>
            </a:endParaRPr>
          </a:p>
        </p:txBody>
      </p:sp>
      <p:sp>
        <p:nvSpPr>
          <p:cNvPr id="5" name="墙面纹理参考"/>
          <p:cNvSpPr txBox="1"/>
          <p:nvPr/>
        </p:nvSpPr>
        <p:spPr>
          <a:xfrm>
            <a:off x="3620190" y="10953696"/>
            <a:ext cx="463486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>
                <a:sym typeface="+mn-ea"/>
              </a:rPr>
              <a:t>标配矩阵式</a:t>
            </a:r>
            <a:r>
              <a:rPr lang="zh-CN" sz="2400">
                <a:sym typeface="+mn-ea"/>
              </a:rPr>
              <a:t>特写</a:t>
            </a:r>
            <a:r>
              <a:rPr sz="2400">
                <a:sym typeface="+mn-ea"/>
              </a:rPr>
              <a:t>LED大灯</a:t>
            </a:r>
            <a:endParaRPr lang="zh-CN" sz="2400"/>
          </a:p>
        </p:txBody>
      </p:sp>
      <p:sp>
        <p:nvSpPr>
          <p:cNvPr id="11" name="墙面纹理参考"/>
          <p:cNvSpPr txBox="1"/>
          <p:nvPr/>
        </p:nvSpPr>
        <p:spPr>
          <a:xfrm>
            <a:off x="12509237" y="6189926"/>
            <a:ext cx="492887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>
                <a:sym typeface="+mn-ea"/>
              </a:rPr>
              <a:t>尾部一体式尾灯</a:t>
            </a:r>
            <a:endParaRPr lang="zh-CN" sz="2400"/>
          </a:p>
        </p:txBody>
      </p:sp>
      <p:pic>
        <p:nvPicPr>
          <p:cNvPr id="12" name="图片 11" descr="10231617239550_.pic_hd"/>
          <p:cNvPicPr>
            <a:picLocks noChangeAspect="1"/>
          </p:cNvPicPr>
          <p:nvPr/>
        </p:nvPicPr>
        <p:blipFill>
          <a:blip r:embed="rId7"/>
          <a:srcRect l="8543" r="9241"/>
          <a:stretch>
            <a:fillRect/>
          </a:stretch>
        </p:blipFill>
        <p:spPr>
          <a:xfrm>
            <a:off x="8926830" y="7498715"/>
            <a:ext cx="6361430" cy="327533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622675" y="4337685"/>
            <a:ext cx="1080135" cy="504190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Off val="13529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23735" y="4337685"/>
            <a:ext cx="1080135" cy="504190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Off val="13529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509500" y="8958263"/>
            <a:ext cx="2429510" cy="593725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Off val="13529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pic>
        <p:nvPicPr>
          <p:cNvPr id="17" name="8C06372F0F4768098BAA216555C31DD4.jpg" descr="/Users/nowa/Desktop/Bigmanooo/2021项目/2021奥迪e-tron公关传播视频拍摄制作/参考文件/图片02/WechatIMG972.jpegWechatIMG97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5438438" y="7469505"/>
            <a:ext cx="5879465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墙面纹理参考"/>
          <p:cNvSpPr txBox="1"/>
          <p:nvPr/>
        </p:nvSpPr>
        <p:spPr>
          <a:xfrm>
            <a:off x="15497547" y="10961951"/>
            <a:ext cx="6007100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自动开启</a:t>
            </a:r>
            <a:r>
              <a:rPr lang="en-US" sz="2400"/>
              <a:t>/</a:t>
            </a:r>
            <a:r>
              <a:rPr sz="2400"/>
              <a:t>关闭行李箱盖</a:t>
            </a:r>
            <a:endParaRPr sz="2400"/>
          </a:p>
          <a:p>
            <a:pPr algn="ctr"/>
            <a:r>
              <a:rPr sz="2400"/>
              <a:t>&amp;后备箱容量</a:t>
            </a:r>
            <a:endParaRPr sz="240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88280" y="100829"/>
            <a:ext cx="24380221" cy="13732722"/>
            <a:chOff x="0" y="0"/>
            <a:chExt cx="24380220" cy="13732721"/>
          </a:xfrm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137" name="8C06372F0F4768098BAA216555C31DD4.jpg" descr="/Users/nowa/Desktop/Bigmanooo/2021项目/2021奥迪e-tron公关传播视频拍摄制作/参考文件/卡图文件/WechatIMG952.jpegWechatIMG95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62125" y="3065463"/>
            <a:ext cx="5906770" cy="32829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9" name="墙面纹理参考"/>
          <p:cNvSpPr txBox="1"/>
          <p:nvPr/>
        </p:nvSpPr>
        <p:spPr>
          <a:xfrm>
            <a:off x="7715305" y="6843341"/>
            <a:ext cx="7800975" cy="23171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36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36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36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3600"/>
              <a:t>单独车辆充电镜头</a:t>
            </a:r>
            <a:endParaRPr lang="zh-CN" altLang="en-US" sz="3600"/>
          </a:p>
          <a:p>
            <a:pPr algn="ctr"/>
            <a:r>
              <a:rPr sz="3600">
                <a:sym typeface="+mn-ea"/>
              </a:rPr>
              <a:t>极致充电体验</a:t>
            </a:r>
            <a:endParaRPr sz="3600"/>
          </a:p>
          <a:p>
            <a:pPr algn="ctr"/>
            <a:r>
              <a:rPr sz="3600">
                <a:sym typeface="+mn-ea"/>
              </a:rPr>
              <a:t>（支持150kW直流超级快冲）</a:t>
            </a:r>
            <a:endParaRPr sz="3600"/>
          </a:p>
          <a:p>
            <a:pPr algn="ctr"/>
            <a:endParaRPr lang="zh-CN" altLang="en-US" sz="3600"/>
          </a:p>
        </p:txBody>
      </p:sp>
      <p:pic>
        <p:nvPicPr>
          <p:cNvPr id="9" name="图片 8" descr="9581617081017_.pic_hd"/>
          <p:cNvPicPr>
            <a:picLocks noChangeAspect="1"/>
          </p:cNvPicPr>
          <p:nvPr/>
        </p:nvPicPr>
        <p:blipFill>
          <a:blip r:embed="rId4"/>
          <a:srcRect l="10304" t="8519" r="12281" b="8501"/>
          <a:stretch>
            <a:fillRect/>
          </a:stretch>
        </p:blipFill>
        <p:spPr>
          <a:xfrm rot="16200000">
            <a:off x="9942830" y="852170"/>
            <a:ext cx="3345815" cy="7772400"/>
          </a:xfrm>
          <a:prstGeom prst="rect">
            <a:avLst/>
          </a:prstGeom>
        </p:spPr>
      </p:pic>
      <p:pic>
        <p:nvPicPr>
          <p:cNvPr id="10" name="图片 9" descr="9591617081018_.pic_hd"/>
          <p:cNvPicPr>
            <a:picLocks noChangeAspect="1"/>
          </p:cNvPicPr>
          <p:nvPr/>
        </p:nvPicPr>
        <p:blipFill>
          <a:blip r:embed="rId5"/>
          <a:srcRect l="18962" t="8455" b="13337"/>
          <a:stretch>
            <a:fillRect/>
          </a:stretch>
        </p:blipFill>
        <p:spPr>
          <a:xfrm rot="16200000">
            <a:off x="17319625" y="1248410"/>
            <a:ext cx="3330575" cy="696468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731385" y="9710420"/>
            <a:ext cx="12806680" cy="77851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CKD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车型 带车侧面 </a:t>
            </a:r>
            <a:r>
              <a:rPr kumimoji="0" lang="en-US" altLang="zh-CN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+mn-ea"/>
                <a:cs typeface="Helvetica Neue Bold" panose="02000503000000020004" charset="0"/>
                <a:sym typeface="Helvetica Neue Medium" panose="02000503000000020004"/>
              </a:rPr>
              <a:t>&amp;SPB</a:t>
            </a:r>
            <a:r>
              <a:rPr kumimoji="0" lang="zh-CN" altLang="en-US" sz="440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Bold" panose="02000503000000020004" charset="0"/>
                <a:ea typeface="宋体" charset="0"/>
                <a:cs typeface="Helvetica Neue Bold" panose="02000503000000020004" charset="0"/>
                <a:sym typeface="Helvetica Neue Medium" panose="02000503000000020004"/>
              </a:rPr>
              <a:t>带车尾部造型</a:t>
            </a:r>
            <a:endParaRPr kumimoji="0" lang="zh-CN" altLang="en-US" sz="440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Bold" panose="02000503000000020004" charset="0"/>
              <a:ea typeface="宋体" charset="0"/>
              <a:cs typeface="Helvetica Neue Bold" panose="02000503000000020004" charset="0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43195" y="-8391"/>
            <a:ext cx="24380221" cy="13732722"/>
            <a:chOff x="0" y="0"/>
            <a:chExt cx="24380220" cy="13732721"/>
          </a:xfrm>
          <a:noFill/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137" name="8C06372F0F4768098BAA216555C31DD4.jpg" descr="/Users/nowa/Desktop/Bigmanooo/2021项目/2021奥迪e-tron公关传播视频拍摄制作/参考文件/图片02/WechatIMG969.jpegWechatIMG96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58630" y="7067550"/>
            <a:ext cx="5906770" cy="32683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9" name="墙面纹理参考"/>
          <p:cNvSpPr txBox="1"/>
          <p:nvPr/>
        </p:nvSpPr>
        <p:spPr>
          <a:xfrm>
            <a:off x="10024165" y="10469826"/>
            <a:ext cx="43732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驾驶员位高角度内饰</a:t>
            </a:r>
            <a:r>
              <a:rPr lang="zh-CN" sz="2400">
                <a:ea typeface="宋体" charset="0"/>
              </a:rPr>
              <a:t>；</a:t>
            </a:r>
            <a:endParaRPr lang="zh-CN" sz="2400">
              <a:ea typeface="宋体" charset="0"/>
            </a:endParaRPr>
          </a:p>
        </p:txBody>
      </p:sp>
      <p:pic>
        <p:nvPicPr>
          <p:cNvPr id="3" name="8C06372F0F4768098BAA216555C31DD4.jpg" descr="/Users/nowa/Desktop/Bigmanooo/2021项目/2021奥迪e-tron公关传播视频拍摄制作/参考文件/图片02/WechatIMG973.jpegWechatIMG97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47720" y="7071678"/>
            <a:ext cx="5927725" cy="32931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8C06372F0F4768098BAA216555C31DD4.jpg" descr="/Users/nowa/Desktop/Bigmanooo/2021项目/2021奥迪e-tron公关传播视频拍摄制作/参考文件/图片02/WechatIMG979.jpegWechatIMG979"/>
          <p:cNvPicPr>
            <a:picLocks noChangeAspect="1"/>
          </p:cNvPicPr>
          <p:nvPr/>
        </p:nvPicPr>
        <p:blipFill>
          <a:blip r:embed="rId5"/>
          <a:srcRect l="57649" t="31273" b="29481"/>
          <a:stretch>
            <a:fillRect/>
          </a:stretch>
        </p:blipFill>
        <p:spPr>
          <a:xfrm>
            <a:off x="9417050" y="2815590"/>
            <a:ext cx="6153150" cy="3185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8C06372F0F4768098BAA216555C31DD4.jpg" descr="/Users/nowa/Desktop/Bigmanooo/2021项目/2021奥迪e-tron公关传播视频拍摄制作/参考文件/图片02/WechatIMG979.jpegWechatIMG97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91840" y="2815590"/>
            <a:ext cx="5902325" cy="32975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8C06372F0F4768098BAA216555C31DD4.jpg" descr="/Users/nowa/Desktop/Bigmanooo/2021项目/2021奥迪e-tron公关传播视频拍摄制作/参考文件/图片02/WechatIMG970.jpegWechatIMG97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5707995" y="2783840"/>
            <a:ext cx="5825490" cy="33045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墙面纹理参考"/>
          <p:cNvSpPr txBox="1"/>
          <p:nvPr/>
        </p:nvSpPr>
        <p:spPr>
          <a:xfrm>
            <a:off x="4159940" y="10455856"/>
            <a:ext cx="4068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副驾低角度内饰整体</a:t>
            </a:r>
            <a:endParaRPr sz="2400"/>
          </a:p>
        </p:txBody>
      </p:sp>
      <p:sp>
        <p:nvSpPr>
          <p:cNvPr id="8" name="墙面纹理参考"/>
          <p:cNvSpPr txBox="1"/>
          <p:nvPr/>
        </p:nvSpPr>
        <p:spPr>
          <a:xfrm>
            <a:off x="15502945" y="10439346"/>
            <a:ext cx="484949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中央扶手</a:t>
            </a:r>
            <a:r>
              <a:rPr lang="en-US" sz="2400"/>
              <a:t>+</a:t>
            </a:r>
            <a:r>
              <a:rPr sz="2400"/>
              <a:t>两块屏(带挡把)</a:t>
            </a:r>
            <a:endParaRPr sz="2400"/>
          </a:p>
        </p:txBody>
      </p:sp>
      <p:sp>
        <p:nvSpPr>
          <p:cNvPr id="9" name="墙面纹理参考"/>
          <p:cNvSpPr txBox="1"/>
          <p:nvPr/>
        </p:nvSpPr>
        <p:spPr>
          <a:xfrm>
            <a:off x="9516165" y="6180401"/>
            <a:ext cx="5592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后排左视角后排（后排充电口）</a:t>
            </a:r>
            <a:endParaRPr sz="2400"/>
          </a:p>
        </p:txBody>
      </p:sp>
      <p:sp>
        <p:nvSpPr>
          <p:cNvPr id="10" name="墙面纹理参考"/>
          <p:cNvSpPr txBox="1"/>
          <p:nvPr/>
        </p:nvSpPr>
        <p:spPr>
          <a:xfrm>
            <a:off x="3734807" y="6088326"/>
            <a:ext cx="4319270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后排大内饰</a:t>
            </a:r>
            <a:endParaRPr sz="2400"/>
          </a:p>
          <a:p>
            <a:pPr algn="ctr"/>
            <a:r>
              <a:rPr lang="zh-CN" sz="2400"/>
              <a:t>低角度</a:t>
            </a:r>
            <a:r>
              <a:rPr sz="2400"/>
              <a:t>全景 </a:t>
            </a:r>
            <a:r>
              <a:rPr lang="zh-CN" sz="2400"/>
              <a:t>能看见头部空间</a:t>
            </a:r>
            <a:endParaRPr lang="zh-CN" sz="2400"/>
          </a:p>
        </p:txBody>
      </p:sp>
      <p:sp>
        <p:nvSpPr>
          <p:cNvPr id="11" name="墙面纹理参考"/>
          <p:cNvSpPr txBox="1"/>
          <p:nvPr/>
        </p:nvSpPr>
        <p:spPr>
          <a:xfrm>
            <a:off x="16586890" y="6220406"/>
            <a:ext cx="4068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驾驶席侧方拍仪表盘</a:t>
            </a:r>
            <a:endParaRPr sz="2400"/>
          </a:p>
        </p:txBody>
      </p:sp>
      <p:pic>
        <p:nvPicPr>
          <p:cNvPr id="12" name="图片 11" descr="10251617241293_.p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4935" y="7066915"/>
            <a:ext cx="6198235" cy="31457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-43195" y="120514"/>
            <a:ext cx="24380221" cy="13732722"/>
            <a:chOff x="0" y="0"/>
            <a:chExt cx="24380220" cy="13732721"/>
          </a:xfrm>
          <a:noFill/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137" name="8C06372F0F4768098BAA216555C31DD4.jpg" descr="/Users/nowa/Desktop/Bigmanooo/2021项目/2021奥迪e-tron公关传播视频拍摄制作/参考文件/图片3/WechatIMG998.jpegWechatIMG99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13430" y="2832735"/>
            <a:ext cx="5871210" cy="32683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9" name="墙面纹理参考"/>
          <p:cNvSpPr txBox="1"/>
          <p:nvPr/>
        </p:nvSpPr>
        <p:spPr>
          <a:xfrm>
            <a:off x="3675118" y="6235011"/>
            <a:ext cx="492887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+</a:t>
            </a:r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sz="2400"/>
              <a:t>前排整体空间</a:t>
            </a:r>
            <a:r>
              <a:rPr lang="zh-CN" sz="2400">
                <a:ea typeface="宋体" charset="0"/>
              </a:rPr>
              <a:t>；</a:t>
            </a:r>
            <a:endParaRPr lang="zh-CN" sz="2400">
              <a:ea typeface="宋体" charset="0"/>
            </a:endParaRPr>
          </a:p>
        </p:txBody>
      </p:sp>
      <p:sp>
        <p:nvSpPr>
          <p:cNvPr id="2" name="墙面纹理参考"/>
          <p:cNvSpPr txBox="1"/>
          <p:nvPr/>
        </p:nvSpPr>
        <p:spPr>
          <a:xfrm>
            <a:off x="9181202" y="6203896"/>
            <a:ext cx="5930900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16喇叭B&amp;O音响 </a:t>
            </a:r>
            <a:r>
              <a:rPr lang="zh-CN" sz="2400" b="1">
                <a:solidFill>
                  <a:schemeClr val="bg1"/>
                </a:solidFill>
                <a:highlight>
                  <a:srgbClr val="FF0000"/>
                </a:highlight>
              </a:rPr>
              <a:t>车门 风挡玻璃下</a:t>
            </a:r>
            <a:endParaRPr lang="zh-CN" sz="2400" b="1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8" name="墙面纹理参考"/>
          <p:cNvSpPr txBox="1"/>
          <p:nvPr/>
        </p:nvSpPr>
        <p:spPr>
          <a:xfrm>
            <a:off x="10422310" y="10572061"/>
            <a:ext cx="97072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前排座椅座椅的独特工艺缝线，蒙皮珩缝造型、座椅打孔造型</a:t>
            </a:r>
            <a:endParaRPr sz="2400"/>
          </a:p>
        </p:txBody>
      </p:sp>
      <p:sp>
        <p:nvSpPr>
          <p:cNvPr id="9" name="墙面纹理参考"/>
          <p:cNvSpPr txBox="1"/>
          <p:nvPr/>
        </p:nvSpPr>
        <p:spPr>
          <a:xfrm>
            <a:off x="3356030" y="10562536"/>
            <a:ext cx="51606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门板、中扶手Alcantara皮革</a:t>
            </a:r>
            <a:endParaRPr sz="2400"/>
          </a:p>
        </p:txBody>
      </p:sp>
      <p:sp>
        <p:nvSpPr>
          <p:cNvPr id="10" name="墙面纹理参考"/>
          <p:cNvSpPr txBox="1"/>
          <p:nvPr/>
        </p:nvSpPr>
        <p:spPr>
          <a:xfrm>
            <a:off x="15756310" y="6203896"/>
            <a:ext cx="43732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仪表板的搪塑工艺饰条</a:t>
            </a:r>
            <a:endParaRPr sz="2400"/>
          </a:p>
        </p:txBody>
      </p:sp>
      <p:pic>
        <p:nvPicPr>
          <p:cNvPr id="12" name="8C06372F0F4768098BAA216555C31DD4.jpg" descr="/Users/nowa/Desktop/Bigmanooo/2021项目/2021奥迪e-tron公关传播视频拍摄制作/参考文件/图片02/WechatIMG975.jpegWechatIMG97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274925" y="2846070"/>
            <a:ext cx="5902325" cy="32416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" name="8C06372F0F4768098BAA216555C31DD4.jpg" descr="/Users/nowa/Desktop/Bigmanooo/2021项目/2021奥迪e-tron公关传播视频拍摄制作/参考文件/图片3/WechatIMG992.jpegWechatIMG992"/>
          <p:cNvPicPr>
            <a:picLocks noChangeAspect="1"/>
          </p:cNvPicPr>
          <p:nvPr/>
        </p:nvPicPr>
        <p:blipFill>
          <a:blip r:embed="rId5"/>
          <a:srcRect l="63098" t="17162" b="39972"/>
          <a:stretch>
            <a:fillRect/>
          </a:stretch>
        </p:blipFill>
        <p:spPr>
          <a:xfrm>
            <a:off x="9356725" y="2874010"/>
            <a:ext cx="5873115" cy="318579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" name="图片 13" descr="10241617241186_.p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975" y="7054215"/>
            <a:ext cx="5828665" cy="3304540"/>
          </a:xfrm>
          <a:prstGeom prst="rect">
            <a:avLst/>
          </a:prstGeom>
        </p:spPr>
      </p:pic>
      <p:pic>
        <p:nvPicPr>
          <p:cNvPr id="15" name="8C06372F0F4768098BAA216555C31DD4.jpg" descr="/Users/nowa/Desktop/Bigmanooo/2021项目/2021奥迪e-tron公关传播视频拍摄制作/参考文件/图片02/WechatIMG974.jpegWechatIMG97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294610" y="7072630"/>
            <a:ext cx="5882640" cy="32683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8C06372F0F4768098BAA216555C31DD4.jpg" descr="/Users/nowa/Desktop/Bigmanooo/2021项目/2021奥迪e-tron公关传播视频拍摄制作/参考文件/图片3/WechatIMG991.jpegWechatIMG99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340215" y="7119938"/>
            <a:ext cx="5882640" cy="320929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28560" y="-42681"/>
            <a:ext cx="24380221" cy="13732722"/>
            <a:chOff x="0" y="0"/>
            <a:chExt cx="24380220" cy="13732721"/>
          </a:xfrm>
          <a:noFill/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4" name="8C06372F0F4768098BAA216555C31DD4.jpg" descr="/Users/nowa/Desktop/Bigmanooo/2021项目/2021奥迪e-tron公关传播视频拍摄制作/参考文件/图片02/WechatIMG977.jpegWechatIMG97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1838" y="2425700"/>
            <a:ext cx="5692775" cy="3185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墙面纹理参考"/>
          <p:cNvSpPr txBox="1"/>
          <p:nvPr/>
        </p:nvSpPr>
        <p:spPr>
          <a:xfrm>
            <a:off x="3593520" y="5775271"/>
            <a:ext cx="5084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sz="2400"/>
              <a:t>多达30种色彩的内饰氛围灯</a:t>
            </a:r>
            <a:endParaRPr sz="2400"/>
          </a:p>
        </p:txBody>
      </p:sp>
      <p:pic>
        <p:nvPicPr>
          <p:cNvPr id="11" name="图片 10" descr="10161617238689_.p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45" y="2423795"/>
            <a:ext cx="5513070" cy="3187065"/>
          </a:xfrm>
          <a:prstGeom prst="rect">
            <a:avLst/>
          </a:prstGeom>
        </p:spPr>
      </p:pic>
      <p:pic>
        <p:nvPicPr>
          <p:cNvPr id="14" name="图片 13" descr="/Users/nowa/Desktop/Bigmanooo/2021项目/2021奥迪e-tron公关传播视频拍摄制作/参考文件/图片3/WechatIMG998.jpegWechatIMG99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240895" y="2484120"/>
            <a:ext cx="5513070" cy="3068320"/>
          </a:xfrm>
          <a:prstGeom prst="rect">
            <a:avLst/>
          </a:prstGeom>
        </p:spPr>
      </p:pic>
      <p:pic>
        <p:nvPicPr>
          <p:cNvPr id="16" name="图片 15" descr="/Users/nowa/Desktop/Bigmanooo/2021项目/2021奥迪e-tron公关传播视频拍摄制作/参考文件/图片3/WechatIMG1000.jpegWechatIMG100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7605" y="6599873"/>
            <a:ext cx="5513070" cy="3051175"/>
          </a:xfrm>
          <a:prstGeom prst="rect">
            <a:avLst/>
          </a:prstGeom>
        </p:spPr>
      </p:pic>
      <p:pic>
        <p:nvPicPr>
          <p:cNvPr id="17" name="图片 16" descr="/Users/nowa/Desktop/Bigmanooo/2021项目/2021奥迪e-tron公关传播视频拍摄制作/参考文件/图片3/WechatIMG999.jpegWechatIMG99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7961610" y="2425700"/>
            <a:ext cx="5513070" cy="3065780"/>
          </a:xfrm>
          <a:prstGeom prst="rect">
            <a:avLst/>
          </a:prstGeom>
        </p:spPr>
      </p:pic>
      <p:sp>
        <p:nvSpPr>
          <p:cNvPr id="18" name="墙面纹理参考"/>
          <p:cNvSpPr txBox="1"/>
          <p:nvPr/>
        </p:nvSpPr>
        <p:spPr>
          <a:xfrm>
            <a:off x="13295685" y="5682561"/>
            <a:ext cx="340296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en-US" sz="2400"/>
              <a:t>MMI</a:t>
            </a:r>
            <a:r>
              <a:rPr lang="zh-CN" altLang="en-US" sz="2400"/>
              <a:t>操作主界面</a:t>
            </a:r>
            <a:endParaRPr lang="zh-CN" altLang="en-US" sz="2400"/>
          </a:p>
        </p:txBody>
      </p:sp>
      <p:sp>
        <p:nvSpPr>
          <p:cNvPr id="19" name="墙面纹理参考"/>
          <p:cNvSpPr txBox="1"/>
          <p:nvPr/>
        </p:nvSpPr>
        <p:spPr>
          <a:xfrm>
            <a:off x="19446295" y="5683196"/>
            <a:ext cx="2544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手写面板</a:t>
            </a:r>
            <a:endParaRPr lang="zh-CN" altLang="en-US" sz="2400"/>
          </a:p>
        </p:txBody>
      </p:sp>
      <p:sp>
        <p:nvSpPr>
          <p:cNvPr id="20" name="墙面纹理参考"/>
          <p:cNvSpPr txBox="1"/>
          <p:nvPr/>
        </p:nvSpPr>
        <p:spPr>
          <a:xfrm>
            <a:off x="3584630" y="9850066"/>
            <a:ext cx="579437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虚拟座舱 三种模式切换 导航模式</a:t>
            </a:r>
            <a:endParaRPr lang="zh-CN" altLang="en-US" sz="2400"/>
          </a:p>
        </p:txBody>
      </p:sp>
      <p:pic>
        <p:nvPicPr>
          <p:cNvPr id="21" name="图片 20" descr="10261617242900_.pic_h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950" y="6592570"/>
            <a:ext cx="5425440" cy="3065780"/>
          </a:xfrm>
          <a:prstGeom prst="rect">
            <a:avLst/>
          </a:prstGeom>
        </p:spPr>
      </p:pic>
      <p:sp>
        <p:nvSpPr>
          <p:cNvPr id="22" name="墙面纹理参考"/>
          <p:cNvSpPr txBox="1"/>
          <p:nvPr/>
        </p:nvSpPr>
        <p:spPr>
          <a:xfrm>
            <a:off x="10089570" y="9850066"/>
            <a:ext cx="43732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驾驶模式选项出现动画</a:t>
            </a:r>
            <a:endParaRPr lang="zh-CN" altLang="en-US" sz="2400"/>
          </a:p>
        </p:txBody>
      </p:sp>
      <p:pic>
        <p:nvPicPr>
          <p:cNvPr id="23" name="图片 22" descr="10261617242900_.pic_h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1265" y="6585585"/>
            <a:ext cx="5425440" cy="3065780"/>
          </a:xfrm>
          <a:prstGeom prst="rect">
            <a:avLst/>
          </a:prstGeom>
        </p:spPr>
      </p:pic>
      <p:sp>
        <p:nvSpPr>
          <p:cNvPr id="24" name="墙面纹理参考"/>
          <p:cNvSpPr txBox="1"/>
          <p:nvPr/>
        </p:nvSpPr>
        <p:spPr>
          <a:xfrm>
            <a:off x="16521485" y="9843081"/>
            <a:ext cx="31540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动能回收界面</a:t>
            </a:r>
            <a:endParaRPr lang="zh-CN" altLang="en-US" sz="240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成组"/>
          <p:cNvGrpSpPr/>
          <p:nvPr/>
        </p:nvGrpSpPr>
        <p:grpSpPr>
          <a:xfrm>
            <a:off x="40625" y="-42681"/>
            <a:ext cx="24380221" cy="13732722"/>
            <a:chOff x="0" y="0"/>
            <a:chExt cx="24380220" cy="13732721"/>
          </a:xfrm>
          <a:noFill/>
        </p:grpSpPr>
        <p:pic>
          <p:nvPicPr>
            <p:cNvPr id="132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4380221" cy="13732722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3" name="截屏2021-03-28 上午12.31.48.png" descr="截屏2021-03-28 上午12.31.48.png"/>
            <p:cNvPicPr>
              <a:picLocks noChangeAspect="1"/>
            </p:cNvPicPr>
            <p:nvPr/>
          </p:nvPicPr>
          <p:blipFill>
            <a:blip r:embed="rId1"/>
            <a:srcRect l="1151" t="1433" r="1151" b="93019"/>
            <a:stretch>
              <a:fillRect/>
            </a:stretch>
          </p:blipFill>
          <p:spPr>
            <a:xfrm>
              <a:off x="280798" y="692106"/>
              <a:ext cx="23818624" cy="761764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34" name="截屏2021-03-28 上午12.32.30.png" descr="截屏2021-03-28 上午12.32.30.png"/>
            <p:cNvPicPr/>
            <p:nvPr/>
          </p:nvPicPr>
          <p:blipFill>
            <a:blip r:embed="rId2"/>
            <a:srcRect l="1201" t="4399" r="1201" b="57341"/>
            <a:stretch>
              <a:fillRect/>
            </a:stretch>
          </p:blipFill>
          <p:spPr>
            <a:xfrm>
              <a:off x="336199" y="1800551"/>
              <a:ext cx="23798230" cy="9912795"/>
            </a:xfrm>
            <a:prstGeom prst="rect">
              <a:avLst/>
            </a:prstGeom>
            <a:grpFill/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136" name="Set Design / 场景设计"/>
          <p:cNvSpPr txBox="1"/>
          <p:nvPr/>
        </p:nvSpPr>
        <p:spPr>
          <a:xfrm>
            <a:off x="1234889" y="696756"/>
            <a:ext cx="9809480" cy="7169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r>
              <a:rPr lang="zh-CN"/>
              <a:t>影棚 拍摄内容</a:t>
            </a:r>
            <a:r>
              <a:t>/ </a:t>
            </a:r>
            <a:r>
              <a:rPr lang="en-US"/>
              <a:t>Studio Shooting Content</a:t>
            </a:r>
            <a:endParaRPr lang="en-US"/>
          </a:p>
        </p:txBody>
      </p:sp>
      <p:pic>
        <p:nvPicPr>
          <p:cNvPr id="4" name="8C06372F0F4768098BAA216555C31DD4.jpg" descr="/Users/nowa/Desktop/Bigmanooo/2021项目/2021奥迪e-tron公关传播视频拍摄制作/参考文件/图片3/WechatIMG987.jpegWechatIMG98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6600" y="2425700"/>
            <a:ext cx="5683250" cy="3185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墙面纹理参考"/>
          <p:cNvSpPr txBox="1"/>
          <p:nvPr/>
        </p:nvSpPr>
        <p:spPr>
          <a:xfrm>
            <a:off x="1267515" y="5775271"/>
            <a:ext cx="973645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en-US" sz="2400">
                <a:solidFill>
                  <a:schemeClr val="bg1"/>
                </a:solidFill>
                <a:highlight>
                  <a:srgbClr val="00FFFF"/>
                </a:highlight>
              </a:rPr>
              <a:t>My Audi</a:t>
            </a:r>
            <a:r>
              <a:rPr lang="zh-CN" altLang="en-US" sz="2400">
                <a:solidFill>
                  <a:schemeClr val="bg1"/>
                </a:solidFill>
                <a:highlight>
                  <a:srgbClr val="00FFFF"/>
                </a:highlight>
              </a:rPr>
              <a:t>程序</a:t>
            </a:r>
            <a:r>
              <a:rPr lang="zh-CN" altLang="en-US" sz="2400"/>
              <a:t>及</a:t>
            </a:r>
            <a:r>
              <a:rPr lang="en-US" altLang="zh-CN" sz="2400">
                <a:solidFill>
                  <a:schemeClr val="bg1"/>
                </a:solidFill>
                <a:highlight>
                  <a:srgbClr val="008000"/>
                </a:highlight>
              </a:rPr>
              <a:t>Audi connect</a:t>
            </a:r>
            <a:r>
              <a:rPr lang="en-US" altLang="zh-CN" sz="2400"/>
              <a:t> </a:t>
            </a:r>
            <a:r>
              <a:rPr lang="en-US" altLang="zh-CN" sz="2400">
                <a:highlight>
                  <a:srgbClr val="FF00FF"/>
                </a:highlight>
              </a:rPr>
              <a:t>app</a:t>
            </a:r>
            <a:r>
              <a:rPr lang="zh-CN" altLang="en-US" sz="2400">
                <a:highlight>
                  <a:srgbClr val="FF00FF"/>
                </a:highlight>
              </a:rPr>
              <a:t>商城界面 </a:t>
            </a:r>
            <a:r>
              <a:rPr lang="zh-CN" altLang="en-US" sz="2400">
                <a:solidFill>
                  <a:schemeClr val="tx1"/>
                </a:solidFill>
                <a:highlight>
                  <a:srgbClr val="0000FF"/>
                </a:highlight>
              </a:rPr>
              <a:t>车内WiFi热点界面</a:t>
            </a:r>
            <a:endParaRPr lang="zh-CN" altLang="en-US" sz="2400">
              <a:solidFill>
                <a:schemeClr val="tx1"/>
              </a:solidFill>
              <a:highlight>
                <a:srgbClr val="0000FF"/>
              </a:highlight>
            </a:endParaRPr>
          </a:p>
        </p:txBody>
      </p:sp>
      <p:pic>
        <p:nvPicPr>
          <p:cNvPr id="11" name="图片 10" descr="/Users/nowa/Desktop/Bigmanooo/2021项目/2021奥迪e-tron公关传播视频拍摄制作/参考文件/图片3/WechatIMG998.jpegWechatIMG998"/>
          <p:cNvPicPr>
            <a:picLocks noChangeAspect="1"/>
          </p:cNvPicPr>
          <p:nvPr/>
        </p:nvPicPr>
        <p:blipFill>
          <a:blip r:embed="rId4"/>
          <a:srcRect l="30293" t="20530" r="25305" b="37210"/>
          <a:stretch>
            <a:fillRect/>
          </a:stretch>
        </p:blipFill>
        <p:spPr>
          <a:xfrm>
            <a:off x="6617335" y="2425700"/>
            <a:ext cx="5425440" cy="3256915"/>
          </a:xfrm>
          <a:prstGeom prst="rect">
            <a:avLst/>
          </a:prstGeom>
        </p:spPr>
      </p:pic>
      <p:pic>
        <p:nvPicPr>
          <p:cNvPr id="16" name="图片 15" descr="/Users/nowa/Desktop/Bigmanooo/2021项目/2021奥迪e-tron公关传播视频拍摄制作/参考文件/图片3/WechatIMG1000.jpegWechatIMG100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97605" y="6599873"/>
            <a:ext cx="5513070" cy="3051175"/>
          </a:xfrm>
          <a:prstGeom prst="rect">
            <a:avLst/>
          </a:prstGeom>
        </p:spPr>
      </p:pic>
      <p:pic>
        <p:nvPicPr>
          <p:cNvPr id="17" name="图片 16" descr="/Users/nowa/Desktop/Bigmanooo/2021项目/2021奥迪e-tron公关传播视频拍摄制作/参考文件/图片3/WechatIMG999.jpegWechatIMG99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7961610" y="2425700"/>
            <a:ext cx="5513070" cy="3065780"/>
          </a:xfrm>
          <a:prstGeom prst="rect">
            <a:avLst/>
          </a:prstGeom>
        </p:spPr>
      </p:pic>
      <p:sp>
        <p:nvSpPr>
          <p:cNvPr id="18" name="墙面纹理参考"/>
          <p:cNvSpPr txBox="1"/>
          <p:nvPr/>
        </p:nvSpPr>
        <p:spPr>
          <a:xfrm>
            <a:off x="12484155" y="5682561"/>
            <a:ext cx="502602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SPB </a:t>
            </a:r>
            <a:r>
              <a:rPr lang="zh-CN" altLang="en-US" sz="2400">
                <a:solidFill>
                  <a:schemeClr val="bg1"/>
                </a:solidFill>
                <a:highlight>
                  <a:srgbClr val="00FF00"/>
                </a:highlight>
                <a:sym typeface="+mn-ea"/>
              </a:rPr>
              <a:t>车型</a:t>
            </a:r>
            <a:r>
              <a:rPr sz="2400"/>
              <a:t>无框内后视镜，自动防炫目</a:t>
            </a:r>
            <a:endParaRPr sz="2400"/>
          </a:p>
        </p:txBody>
      </p:sp>
      <p:sp>
        <p:nvSpPr>
          <p:cNvPr id="19" name="墙面纹理参考"/>
          <p:cNvSpPr txBox="1"/>
          <p:nvPr/>
        </p:nvSpPr>
        <p:spPr>
          <a:xfrm>
            <a:off x="19446295" y="5683196"/>
            <a:ext cx="25444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手写面板</a:t>
            </a:r>
            <a:endParaRPr lang="zh-CN" altLang="en-US" sz="2400"/>
          </a:p>
        </p:txBody>
      </p:sp>
      <p:sp>
        <p:nvSpPr>
          <p:cNvPr id="20" name="墙面纹理参考"/>
          <p:cNvSpPr txBox="1"/>
          <p:nvPr/>
        </p:nvSpPr>
        <p:spPr>
          <a:xfrm>
            <a:off x="3584630" y="9850066"/>
            <a:ext cx="579437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虚拟座舱 三种模式切换 导航模式</a:t>
            </a:r>
            <a:endParaRPr lang="zh-CN" altLang="en-US" sz="2400"/>
          </a:p>
        </p:txBody>
      </p:sp>
      <p:pic>
        <p:nvPicPr>
          <p:cNvPr id="21" name="图片 20" descr="10261617242900_.pic_h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8950" y="6592570"/>
            <a:ext cx="5425440" cy="3065780"/>
          </a:xfrm>
          <a:prstGeom prst="rect">
            <a:avLst/>
          </a:prstGeom>
        </p:spPr>
      </p:pic>
      <p:sp>
        <p:nvSpPr>
          <p:cNvPr id="22" name="墙面纹理参考"/>
          <p:cNvSpPr txBox="1"/>
          <p:nvPr/>
        </p:nvSpPr>
        <p:spPr>
          <a:xfrm>
            <a:off x="10089570" y="9850066"/>
            <a:ext cx="43732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驾驶模式选项出现动画</a:t>
            </a:r>
            <a:endParaRPr lang="zh-CN" altLang="en-US" sz="2400"/>
          </a:p>
        </p:txBody>
      </p:sp>
      <p:pic>
        <p:nvPicPr>
          <p:cNvPr id="23" name="图片 22" descr="10261617242900_.pic_h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1265" y="6585585"/>
            <a:ext cx="5425440" cy="3065780"/>
          </a:xfrm>
          <a:prstGeom prst="rect">
            <a:avLst/>
          </a:prstGeom>
        </p:spPr>
      </p:pic>
      <p:sp>
        <p:nvSpPr>
          <p:cNvPr id="24" name="墙面纹理参考"/>
          <p:cNvSpPr txBox="1"/>
          <p:nvPr/>
        </p:nvSpPr>
        <p:spPr>
          <a:xfrm>
            <a:off x="16521485" y="9843081"/>
            <a:ext cx="3154045" cy="4705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 algn="ctr"/>
            <a:r>
              <a:rPr lang="en-US" altLang="zh-CN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CKD</a:t>
            </a:r>
            <a:r>
              <a:rPr lang="zh-CN" altLang="en-US" sz="2400">
                <a:solidFill>
                  <a:schemeClr val="bg1"/>
                </a:solidFill>
                <a:highlight>
                  <a:srgbClr val="FFFF00"/>
                </a:highlight>
                <a:sym typeface="+mn-ea"/>
              </a:rPr>
              <a:t>车型</a:t>
            </a:r>
            <a:r>
              <a:rPr lang="zh-CN" altLang="en-US" sz="2400"/>
              <a:t>动能回收界面</a:t>
            </a:r>
            <a:endParaRPr lang="zh-CN" altLang="en-US" sz="2400"/>
          </a:p>
        </p:txBody>
      </p:sp>
      <p:pic>
        <p:nvPicPr>
          <p:cNvPr id="2" name="图片 1" descr="10271617243326_.pic_h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35485" y="2425700"/>
            <a:ext cx="5192395" cy="32124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</Words>
  <Application>WPS 表格</Application>
  <PresentationFormat/>
  <Paragraphs>118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方正书宋_GBK</vt:lpstr>
      <vt:lpstr>Wingdings</vt:lpstr>
      <vt:lpstr>Helvetica Neue</vt:lpstr>
      <vt:lpstr>Helvetica Neue Medium</vt:lpstr>
      <vt:lpstr>Helvetica Neue Light</vt:lpstr>
      <vt:lpstr>Franklin Gothic Book</vt:lpstr>
      <vt:lpstr>Thonburi</vt:lpstr>
      <vt:lpstr>Helvetica Neue Bold</vt:lpstr>
      <vt:lpstr>宋体</vt:lpstr>
      <vt:lpstr>汉仪书宋二KW</vt:lpstr>
      <vt:lpstr>微软雅黑</vt:lpstr>
      <vt:lpstr>汉仪旗黑</vt:lpstr>
      <vt:lpstr>Arial Unicode MS</vt:lpstr>
      <vt:lpstr>Apple Color Emoji</vt:lpstr>
      <vt:lpstr>Helvetica Neue Medium</vt:lpstr>
      <vt:lpstr>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nowa</cp:lastModifiedBy>
  <cp:revision>5</cp:revision>
  <dcterms:created xsi:type="dcterms:W3CDTF">2021-04-01T02:19:41Z</dcterms:created>
  <dcterms:modified xsi:type="dcterms:W3CDTF">2021-04-01T02:19:41Z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2052-3.0.0.4824</vt:lpwstr>
  </property>
</Properties>
</file>