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1986356737" r:id="rId2"/>
    <p:sldId id="1986356741" r:id="rId3"/>
    <p:sldId id="1986356742" r:id="rId4"/>
    <p:sldId id="1986356746" r:id="rId5"/>
    <p:sldId id="198635674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88"/>
    <p:restoredTop sz="95735"/>
  </p:normalViewPr>
  <p:slideViewPr>
    <p:cSldViewPr snapToGrid="0" snapToObjects="1" showGuides="1">
      <p:cViewPr>
        <p:scale>
          <a:sx n="69" d="100"/>
          <a:sy n="69" d="100"/>
        </p:scale>
        <p:origin x="2096" y="9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0A7FA-D194-8045-B5DE-B41EC792CDAE}" type="datetimeFigureOut">
              <a:rPr lang="zh-CN" altLang="en-US" smtClean="0"/>
              <a:t>2021/11/1</a:t>
            </a:fld>
            <a:endParaRPr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C44DD-8956-C546-9542-4F86E83B22A3}" type="slidenum">
              <a:rPr lang="en-US" altLang="zh-CN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891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F844C8-104B-4C69-8673-1A2577BA65D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333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F844C8-104B-4C69-8673-1A2577BA65D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85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F844C8-104B-4C69-8673-1A2577BA65D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8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F844C8-104B-4C69-8673-1A2577BA65D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749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F844C8-104B-4C69-8673-1A2577BA65D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08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E9EB3-1D70-9C48-A4B8-8BD39A618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1C8FBF-7323-7F4E-9862-E45A94E37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73D100-85AF-704C-9E6B-864AAD97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7812-882C-2A48-AA08-143F799D51BB}" type="datetimeFigureOut">
              <a:rPr lang="de-DE" smtClean="0"/>
              <a:t>01.11.21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EF6A08-6303-DB47-BBE4-593827FB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97582F-EA05-E34F-B9BA-2F7A7487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DEEF-D00C-144D-A43E-4FEF1E69CD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7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Action-Title (Kernbotschaft der Folie, 1- oder 2-zeilig)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K-VSK | Best Brand Equity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5806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C32728-1D07-4A41-A03C-11D373B2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8E009A-9F6A-EE4E-971C-194FD9589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490463-6BBF-FD45-9FA5-BC463FB9F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77812-882C-2A48-AA08-143F799D51BB}" type="datetimeFigureOut">
              <a:rPr lang="de-DE" smtClean="0"/>
              <a:t>01.11.21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A4811-AC40-B54B-B265-33A9D1F32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59F4E4-DADE-864F-8A40-82ECF9239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CDEEF-D00C-144D-A43E-4FEF1E69CD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058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FD9546CA-4CD9-1747-80A0-383514EA6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298254"/>
            <a:ext cx="12191998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415" y="420254"/>
            <a:ext cx="11341099" cy="612429"/>
          </a:xfrm>
        </p:spPr>
        <p:txBody>
          <a:bodyPr>
            <a:noAutofit/>
          </a:bodyPr>
          <a:lstStyle/>
          <a:p>
            <a:r>
              <a:rPr lang="en-GB" altLang="zh-CN" sz="1200" dirty="0">
                <a:solidFill>
                  <a:srgbClr val="F50537"/>
                </a:solidFill>
                <a:latin typeface="Audi Type Extended" panose="020B0505040200000003" pitchFamily="34" charset="0"/>
                <a:cs typeface="Audi Type Extended" panose="020B0505040200000003" pitchFamily="34" charset="0"/>
              </a:rPr>
              <a:t>2021 GUANGZHOU AUTO</a:t>
            </a:r>
            <a:br>
              <a:rPr lang="en-GB" sz="1600" dirty="0">
                <a:latin typeface="Audi Type Extended" panose="020B0505040200000003" pitchFamily="34" charset="0"/>
                <a:cs typeface="Audi Type Extended" panose="020B0505040200000003" pitchFamily="34" charset="0"/>
              </a:rPr>
            </a:br>
            <a:r>
              <a:rPr lang="en-GB"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棚拍要求</a:t>
            </a:r>
            <a:endParaRPr lang="en-GB" sz="2000" dirty="0">
              <a:latin typeface="Microsoft YaHei" panose="020B0503020204020204" pitchFamily="34" charset="-122"/>
              <a:ea typeface="Microsoft YaHei" panose="020B0503020204020204" pitchFamily="34" charset="-122"/>
              <a:cs typeface="Audi Type Extended" panose="020B0505040200000003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 bwMode="gray">
          <a:xfrm>
            <a:off x="695325" y="115897"/>
            <a:ext cx="479195" cy="1584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7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90FA1-1F9D-4CDE-A4EE-4F208B09BCDF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pic>
        <p:nvPicPr>
          <p:cNvPr id="5" name="Grafik 4" descr="Ein Bild, das Auto, Straße, draußen enthält.&#10;&#10;Automatisch generierte Beschreibung">
            <a:extLst>
              <a:ext uri="{FF2B5EF4-FFF2-40B4-BE49-F238E27FC236}">
                <a16:creationId xmlns:a16="http://schemas.microsoft.com/office/drawing/2014/main" id="{63A6A6FB-1576-3046-8E82-CBF6F1DB7D3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922" y="1848903"/>
            <a:ext cx="3081079" cy="1733107"/>
          </a:xfrm>
          <a:prstGeom prst="rect">
            <a:avLst/>
          </a:prstGeom>
        </p:spPr>
      </p:pic>
      <p:pic>
        <p:nvPicPr>
          <p:cNvPr id="7" name="Grafik 6" descr="Ein Bild, das drinnen, Auto enthält.&#10;&#10;Automatisch generierte Beschreibung">
            <a:extLst>
              <a:ext uri="{FF2B5EF4-FFF2-40B4-BE49-F238E27FC236}">
                <a16:creationId xmlns:a16="http://schemas.microsoft.com/office/drawing/2014/main" id="{91202E54-5B7B-EE4A-826F-658020E8AF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2049" y="3345403"/>
            <a:ext cx="2712484" cy="152577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7E749FB-E844-C149-BC83-D63519EC0158}"/>
              </a:ext>
            </a:extLst>
          </p:cNvPr>
          <p:cNvSpPr txBox="1"/>
          <p:nvPr/>
        </p:nvSpPr>
        <p:spPr>
          <a:xfrm>
            <a:off x="934922" y="5906831"/>
            <a:ext cx="315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 err="1">
                <a:solidFill>
                  <a:srgbClr val="F50537"/>
                </a:solidFill>
                <a:latin typeface="Audi Type Extended" panose="020B0505040200000003" pitchFamily="34" charset="0"/>
                <a:cs typeface="Audi Type" panose="020B0503040202060203" pitchFamily="34" charset="0"/>
              </a:rPr>
              <a:t>No</a:t>
            </a:r>
            <a:r>
              <a:rPr lang="zh-CN" altLang="en-US" b="1" dirty="0">
                <a:solidFill>
                  <a:srgbClr val="F50537"/>
                </a:solidFill>
                <a:latin typeface="Audi Type Extended" panose="020B0505040200000003" pitchFamily="34" charset="0"/>
                <a:cs typeface="Audi Type" panose="020B0503040202060203" pitchFamily="34" charset="0"/>
              </a:rPr>
              <a:t> </a:t>
            </a:r>
            <a:r>
              <a:rPr kumimoji="0" lang="de-DE" sz="1800" b="1" u="none" strike="noStrike" kern="1200" cap="none" spc="0" normalizeH="0" baseline="0" noProof="0" dirty="0">
                <a:ln>
                  <a:noFill/>
                </a:ln>
                <a:solidFill>
                  <a:srgbClr val="F50537"/>
                </a:solidFill>
                <a:effectLst/>
                <a:uLnTx/>
                <a:uFillTx/>
                <a:latin typeface="Audi Type Extended" panose="020B0505040200000003" pitchFamily="34" charset="0"/>
                <a:cs typeface="Audi Type" panose="020B0503040202060203" pitchFamily="34" charset="0"/>
              </a:rPr>
              <a:t>: </a:t>
            </a: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50537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2060203" pitchFamily="34" charset="0"/>
              </a:rPr>
              <a:t>普通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50537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2060203" pitchFamily="34" charset="0"/>
              </a:rPr>
              <a:t>、简陋的棚内环境</a:t>
            </a: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F50537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206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4DD9FF-2F2D-D94A-9435-4D50A03B2519}"/>
              </a:ext>
            </a:extLst>
          </p:cNvPr>
          <p:cNvSpPr txBox="1"/>
          <p:nvPr/>
        </p:nvSpPr>
        <p:spPr>
          <a:xfrm rot="5400000">
            <a:off x="2038683" y="1448293"/>
            <a:ext cx="204735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3900" b="0" i="0" u="none" strike="noStrike" kern="1200" cap="none" spc="0" normalizeH="0" baseline="0" noProof="0" dirty="0">
                <a:ln>
                  <a:noFill/>
                </a:ln>
                <a:solidFill>
                  <a:srgbClr val="F50537"/>
                </a:solidFill>
                <a:effectLst/>
                <a:uLnTx/>
                <a:uFillTx/>
                <a:latin typeface="Audi Type" panose="020B0503040202060203" pitchFamily="34" charset="0"/>
                <a:ea typeface="+mn-ea"/>
                <a:cs typeface="Audi Type" panose="020B0503040202060203" pitchFamily="34" charset="0"/>
              </a:rPr>
              <a:t>X</a:t>
            </a:r>
          </a:p>
        </p:txBody>
      </p:sp>
      <p:pic>
        <p:nvPicPr>
          <p:cNvPr id="13" name="Grafik 12" descr="Ein Bild, das Bordstein enthält.&#10;&#10;Automatisch generierte Beschreibung">
            <a:extLst>
              <a:ext uri="{FF2B5EF4-FFF2-40B4-BE49-F238E27FC236}">
                <a16:creationId xmlns:a16="http://schemas.microsoft.com/office/drawing/2014/main" id="{64EC8746-75F8-7446-9220-D42B0DD0238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6769" y="756758"/>
            <a:ext cx="2543815" cy="143089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ADE7EBF-EAD6-7048-A453-427DE8560B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3235" y="2273005"/>
            <a:ext cx="2159798" cy="12148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33B09A4-4407-B344-847B-08B148F244A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8984" y="3668699"/>
            <a:ext cx="3288006" cy="1849503"/>
          </a:xfrm>
          <a:prstGeom prst="rect">
            <a:avLst/>
          </a:prstGeom>
        </p:spPr>
      </p:pic>
      <p:pic>
        <p:nvPicPr>
          <p:cNvPr id="19" name="Grafik 18" descr="Ein Bild, das Text, Auto, silbern, Projektor enthält.&#10;&#10;Automatisch generierte Beschreibung">
            <a:extLst>
              <a:ext uri="{FF2B5EF4-FFF2-40B4-BE49-F238E27FC236}">
                <a16:creationId xmlns:a16="http://schemas.microsoft.com/office/drawing/2014/main" id="{14BE6C45-CCA6-3148-8F83-FF860A14B25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6665" y="3453439"/>
            <a:ext cx="2712484" cy="1525772"/>
          </a:xfrm>
          <a:prstGeom prst="rect">
            <a:avLst/>
          </a:prstGeom>
        </p:spPr>
      </p:pic>
      <p:pic>
        <p:nvPicPr>
          <p:cNvPr id="21" name="Grafik 20" descr="Ein Bild, das Straße, Auto, Weg, Bordstein enthält.&#10;&#10;Automatisch generierte Beschreibung">
            <a:extLst>
              <a:ext uri="{FF2B5EF4-FFF2-40B4-BE49-F238E27FC236}">
                <a16:creationId xmlns:a16="http://schemas.microsoft.com/office/drawing/2014/main" id="{A0C32DC7-75AE-7041-94AD-759DDA3220F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1964" y="991451"/>
            <a:ext cx="2612120" cy="1469318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DBC3BE51-36F3-8740-B120-FE34447F00D4}"/>
              </a:ext>
            </a:extLst>
          </p:cNvPr>
          <p:cNvSpPr txBox="1"/>
          <p:nvPr/>
        </p:nvSpPr>
        <p:spPr>
          <a:xfrm>
            <a:off x="6134626" y="5888834"/>
            <a:ext cx="574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b="1" dirty="0">
                <a:solidFill>
                  <a:srgbClr val="70AD47">
                    <a:lumMod val="75000"/>
                  </a:srgbClr>
                </a:solidFill>
                <a:latin typeface="Audi Type Extended" panose="020B0505040200000003" pitchFamily="34" charset="0"/>
                <a:ea typeface="Microsoft YaHei" panose="020B0503020204020204" pitchFamily="34" charset="-122"/>
                <a:cs typeface="Audi Type" panose="020B0503040202060203" pitchFamily="34" charset="0"/>
              </a:rPr>
              <a:t>YES : </a:t>
            </a:r>
            <a:r>
              <a:rPr lang="zh-CN" altLang="en-US" b="1" dirty="0">
                <a:solidFill>
                  <a:srgbClr val="70AD47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2060203" pitchFamily="34" charset="0"/>
              </a:rPr>
              <a:t>带有置景的高端工作室，配合精密的灯光设计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2060203" pitchFamily="34" charset="0"/>
            </a:endParaRPr>
          </a:p>
        </p:txBody>
      </p:sp>
      <p:pic>
        <p:nvPicPr>
          <p:cNvPr id="10" name="Grafik 9" descr="Ein Bild, das Auto, Straße, draußen, Bordstein enthält.&#10;&#10;Automatisch generierte Beschreibung">
            <a:extLst>
              <a:ext uri="{FF2B5EF4-FFF2-40B4-BE49-F238E27FC236}">
                <a16:creationId xmlns:a16="http://schemas.microsoft.com/office/drawing/2014/main" id="{2130E885-2B9A-7943-B361-7417A1DEC06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1477" y="2321062"/>
            <a:ext cx="2253750" cy="1267734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73FC5727-A0B1-B34B-AF1D-A4AA16B2EA42}"/>
              </a:ext>
            </a:extLst>
          </p:cNvPr>
          <p:cNvSpPr txBox="1"/>
          <p:nvPr/>
        </p:nvSpPr>
        <p:spPr>
          <a:xfrm>
            <a:off x="7794185" y="1100912"/>
            <a:ext cx="2480166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3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udi Type" panose="020B0503040202060203" pitchFamily="34" charset="0"/>
                <a:ea typeface="+mn-ea"/>
                <a:cs typeface="Audi Type" panose="020B0503040202060203" pitchFamily="34" charset="0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63438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FD9546CA-4CD9-1747-80A0-383514EA6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434" y="26404"/>
            <a:ext cx="12191998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415" y="420254"/>
            <a:ext cx="11341099" cy="612429"/>
          </a:xfrm>
        </p:spPr>
        <p:txBody>
          <a:bodyPr>
            <a:noAutofit/>
          </a:bodyPr>
          <a:lstStyle/>
          <a:p>
            <a:r>
              <a:rPr lang="en-GB" sz="1200" dirty="0">
                <a:solidFill>
                  <a:srgbClr val="F50537"/>
                </a:solidFill>
                <a:latin typeface="Audi Type Extended" panose="020B0505040200000003" pitchFamily="34" charset="0"/>
                <a:cs typeface="Audi Type Extended" panose="020B0505040200000003" pitchFamily="34" charset="0"/>
              </a:rPr>
              <a:t>2021 GUANGZHOU AUTO</a:t>
            </a:r>
            <a:br>
              <a:rPr lang="en-GB" sz="1600" dirty="0">
                <a:latin typeface="Audi Type Extended" panose="020B0505040200000003" pitchFamily="34" charset="0"/>
                <a:cs typeface="Audi Type Extended" panose="020B0505040200000003" pitchFamily="34" charset="0"/>
              </a:rPr>
            </a:br>
            <a:r>
              <a:rPr lang="en-GB"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车身局部拍摄示意</a:t>
            </a:r>
            <a:endParaRPr lang="en-GB" sz="2400" dirty="0">
              <a:latin typeface="Microsoft YaHei" panose="020B0503020204020204" pitchFamily="34" charset="-122"/>
              <a:ea typeface="Microsoft YaHei" panose="020B0503020204020204" pitchFamily="34" charset="-122"/>
              <a:cs typeface="Audi Type Extended" panose="020B0505040200000003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 bwMode="gray">
          <a:xfrm>
            <a:off x="695325" y="115897"/>
            <a:ext cx="479195" cy="1584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7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90FA1-1F9D-4CDE-A4EE-4F208B09BCDF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A3B358F-6FCB-E747-A6ED-EF4AEE44F11E}"/>
              </a:ext>
            </a:extLst>
          </p:cNvPr>
          <p:cNvSpPr txBox="1"/>
          <p:nvPr/>
        </p:nvSpPr>
        <p:spPr>
          <a:xfrm>
            <a:off x="10330319" y="1319213"/>
            <a:ext cx="19451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棚内灯光配合车身局部拍摄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前视图后</a:t>
            </a:r>
            <a:r>
              <a:rPr lang="en-GB" sz="1000" dirty="0" err="1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视图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侧视图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A柱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B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柱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lang="en-GB" sz="1000" dirty="0" err="1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车顶线条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天窗玻璃反射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前车灯开起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关闭动画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GB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后</a:t>
            </a:r>
            <a:r>
              <a:rPr lang="en-GB" altLang="zh-CN" sz="1000" dirty="0" err="1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车灯开起</a:t>
            </a:r>
            <a:r>
              <a:rPr lang="en-US" altLang="zh-CN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/</a:t>
            </a:r>
            <a:r>
              <a:rPr lang="zh-CN" altLang="en-US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关闭动画</a:t>
            </a:r>
            <a:endParaRPr lang="en-US" altLang="zh-CN" sz="1000" dirty="0">
              <a:solidFill>
                <a:prstClr val="black"/>
              </a:solidFill>
              <a:latin typeface="Audi Type" panose="020B0503040200000003" pitchFamily="34" charset="0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lang="en-GB" sz="1000" dirty="0" err="1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欢迎回家开启</a:t>
            </a:r>
            <a:r>
              <a:rPr lang="en-US" altLang="zh-CN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/</a:t>
            </a:r>
            <a:r>
              <a:rPr lang="zh-CN" altLang="en-US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关闭动画</a:t>
            </a:r>
            <a:endParaRPr lang="en-US" altLang="zh-CN" sz="1000" dirty="0">
              <a:solidFill>
                <a:prstClr val="black"/>
              </a:solidFill>
              <a:latin typeface="Audi Type" panose="020B0503040200000003" pitchFamily="34" charset="0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引擎盖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lang="en-GB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q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uattro标识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GB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侧裙</a:t>
            </a:r>
            <a:r>
              <a:rPr lang="en-GB" altLang="zh-CN" sz="10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e-</a:t>
            </a:r>
            <a:r>
              <a:rPr lang="en-GB" altLang="zh-CN" sz="1000" dirty="0" err="1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tron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压印标识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前后进气格栅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...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0407A3E-3B7A-5F4F-A99E-8CC45719DC41}"/>
              </a:ext>
            </a:extLst>
          </p:cNvPr>
          <p:cNvGrpSpPr/>
          <p:nvPr/>
        </p:nvGrpSpPr>
        <p:grpSpPr>
          <a:xfrm>
            <a:off x="591415" y="1178640"/>
            <a:ext cx="9671570" cy="5382768"/>
            <a:chOff x="114311" y="75134"/>
            <a:chExt cx="11849081" cy="6709714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3B5CFA98-1B00-4D40-BA6B-8E82DC125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311" y="2332223"/>
              <a:ext cx="3914772" cy="2199992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78149BF6-EAD9-8E41-93F7-A3E4074D9B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48615" y="2332221"/>
              <a:ext cx="3914776" cy="2199994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AD4BA93B-8A6C-4F48-A9FE-0AE4428E56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81458" y="75134"/>
              <a:ext cx="3914780" cy="2199996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B9844146-1D5E-1047-970F-22FA8C9C1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48613" y="4584853"/>
              <a:ext cx="3914778" cy="2199995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405DD4C9-EBB9-9D46-A42A-BA93E1421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037" y="78356"/>
              <a:ext cx="3909046" cy="2196774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7838812-0245-FB42-B6C1-DEE39F49B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81462" y="2332223"/>
              <a:ext cx="3914772" cy="2199992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2FFB9C39-951D-D44D-801F-48E97A844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48613" y="75134"/>
              <a:ext cx="3914779" cy="2199996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B81A5A35-690C-AE49-A35B-A6F2490F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037" y="4588074"/>
              <a:ext cx="3909046" cy="2196774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51A697E7-7E91-DA40-B01F-30684DC05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87124" y="4591220"/>
              <a:ext cx="3903448" cy="21936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860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FD9546CA-4CD9-1747-80A0-383514EA6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0"/>
            <a:ext cx="12191998" cy="6858000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C563C9F-5CF3-3746-8954-22A85FEEE215}"/>
              </a:ext>
            </a:extLst>
          </p:cNvPr>
          <p:cNvSpPr txBox="1"/>
          <p:nvPr/>
        </p:nvSpPr>
        <p:spPr>
          <a:xfrm>
            <a:off x="10241529" y="1039753"/>
            <a:ext cx="194510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车身完全可见：</a:t>
            </a:r>
            <a:r>
              <a:rPr lang="zh-CN" altLang="en-US" sz="1000" b="1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
</a:t>
            </a:r>
            <a:r>
              <a:rPr lang="zh-CN" altLang="en-US" sz="1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前视图
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后视图
侧视图
</a:t>
            </a:r>
            <a:r>
              <a:rPr lang="en-GB" altLang="zh-CN" sz="10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车顶线条</a:t>
            </a:r>
            <a:endParaRPr lang="en-GB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GB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轮毂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特写</a:t>
            </a:r>
            <a:endParaRPr lang="en-GB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quattro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标识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GB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侧裙</a:t>
            </a:r>
            <a:r>
              <a:rPr lang="en-GB" altLang="zh-CN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e-</a:t>
            </a:r>
            <a:r>
              <a:rPr lang="en-GB" altLang="zh-CN" sz="10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tron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压印标识</a:t>
            </a:r>
            <a:endParaRPr lang="en-GB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格栅外框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格栅镶嵌物（喷涂）</a:t>
            </a:r>
            <a:endParaRPr lang="en-US" altLang="zh-CN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侧进气格栅：高亮黑喷涂</a:t>
            </a:r>
            <a:endParaRPr lang="en-US" altLang="zh-CN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仪表盘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驾驶舱（从后排座椅）
</a:t>
            </a:r>
            <a:r>
              <a:rPr lang="en-GB" sz="10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MMI系统</a:t>
            </a:r>
            <a:endParaRPr lang="en-GB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显示屏（电量消耗界面）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充电示范及电满显示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en" altLang="zh-CN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Audi connect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车载互联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en" altLang="zh-CN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AR HUD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实景抬头显示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方向盘数字化触碰按键
中国专有的运动座位特写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内饰氛围灯（变色过程）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前排座椅</a:t>
            </a:r>
            <a:r>
              <a:rPr lang="en-US" altLang="zh-CN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e-</a:t>
            </a:r>
            <a:r>
              <a:rPr lang="en-US" altLang="zh-CN" sz="10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tron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标识
</a:t>
            </a:r>
            <a:r>
              <a:rPr lang="en-GB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Bose </a:t>
            </a:r>
            <a:r>
              <a:rPr lang="zh-CN" altLang="en-US" sz="1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音响系统、虚拟驾驶舱、中控台、后座腿部空间等特写</a:t>
            </a:r>
            <a:endParaRPr lang="en-US" altLang="zh-CN" sz="1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lvl="0" indent="-171450">
              <a:spcBef>
                <a:spcPts val="600"/>
              </a:spcBef>
              <a:buClr>
                <a:srgbClr val="F30436"/>
              </a:buClr>
              <a:buFontTx/>
              <a:buChar char="-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...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udi Type" panose="020B05030402000000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Char char="-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415" y="420254"/>
            <a:ext cx="11341099" cy="612429"/>
          </a:xfrm>
        </p:spPr>
        <p:txBody>
          <a:bodyPr>
            <a:noAutofit/>
          </a:bodyPr>
          <a:lstStyle/>
          <a:p>
            <a:r>
              <a:rPr lang="en-GB" altLang="zh-CN" sz="1200" dirty="0">
                <a:solidFill>
                  <a:srgbClr val="F50537"/>
                </a:solidFill>
                <a:latin typeface="Audi Type Extended" panose="020B0505040200000003" pitchFamily="34" charset="0"/>
                <a:cs typeface="Audi Type Extended" panose="020B0505040200000003" pitchFamily="34" charset="0"/>
              </a:rPr>
              <a:t>2021 GUANGZHOU AUTO</a:t>
            </a:r>
            <a:br>
              <a:rPr lang="en-GB" sz="1600" dirty="0">
                <a:latin typeface="Audi Type Extended" panose="020B0505040200000003" pitchFamily="34" charset="0"/>
                <a:cs typeface="Audi Type Extended" panose="020B0505040200000003" pitchFamily="34" charset="0"/>
              </a:rPr>
            </a:b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棚拍整车外观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+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内饰示意</a:t>
            </a:r>
            <a:endParaRPr lang="en-GB" sz="2400" dirty="0">
              <a:latin typeface="Microsoft YaHei" panose="020B0503020204020204" pitchFamily="34" charset="-122"/>
              <a:ea typeface="Microsoft YaHei" panose="020B0503020204020204" pitchFamily="34" charset="-122"/>
              <a:cs typeface="Audi Type Extended" panose="020B0505040200000003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 bwMode="gray">
          <a:xfrm>
            <a:off x="695325" y="115897"/>
            <a:ext cx="479195" cy="1584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7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90FA1-1F9D-4CDE-A4EE-4F208B09BCDF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B061A6A-3F08-CC48-9182-3E0EAD660FED}"/>
              </a:ext>
            </a:extLst>
          </p:cNvPr>
          <p:cNvGrpSpPr/>
          <p:nvPr/>
        </p:nvGrpSpPr>
        <p:grpSpPr>
          <a:xfrm>
            <a:off x="695325" y="1065849"/>
            <a:ext cx="9509379" cy="5578791"/>
            <a:chOff x="99966" y="146304"/>
            <a:chExt cx="11432653" cy="6458903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52B156F-8590-D541-8C65-4109A3055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3095" y="4482828"/>
              <a:ext cx="3774307" cy="212105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D2B74FE-9077-4F49-8821-D3F37E585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55957" y="2309435"/>
              <a:ext cx="3776662" cy="212237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4B91C31-5395-DB4D-AF66-DA964D275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3095" y="146304"/>
              <a:ext cx="3778588" cy="212346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DA266E8-0806-6049-957C-4E8C7F40C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58312" y="147385"/>
              <a:ext cx="3774307" cy="2122379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12B63BC5-9118-1640-9C67-BD09379E2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66" y="2318802"/>
              <a:ext cx="3774308" cy="210364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AFB6B79-61A9-DF4B-B489-09E7E4810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67" y="4482828"/>
              <a:ext cx="3774307" cy="2122379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82D2C5A-4727-4147-9FC1-59078457C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3095" y="2309434"/>
              <a:ext cx="3774307" cy="2122379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8BB4F07-18D2-7C4F-ACB2-FC0D5C105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66" y="147384"/>
              <a:ext cx="3774308" cy="212238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2F4B3F6-F87E-FB43-85CC-3AA2BB13F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55957" y="4482828"/>
              <a:ext cx="3774307" cy="21223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006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FD9546CA-4CD9-1747-80A0-383514EA6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298254"/>
            <a:ext cx="12191998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415" y="420254"/>
            <a:ext cx="11341099" cy="612429"/>
          </a:xfrm>
        </p:spPr>
        <p:txBody>
          <a:bodyPr>
            <a:noAutofit/>
          </a:bodyPr>
          <a:lstStyle/>
          <a:p>
            <a:r>
              <a:rPr lang="en-GB" altLang="zh-CN" sz="1200" dirty="0">
                <a:solidFill>
                  <a:srgbClr val="F50537"/>
                </a:solidFill>
                <a:latin typeface="Audi Type Extended" panose="020B0505040200000003" pitchFamily="34" charset="0"/>
                <a:cs typeface="Audi Type Extended" panose="020B0505040200000003" pitchFamily="34" charset="0"/>
              </a:rPr>
              <a:t>2021 GUANGZHOU AUTO</a:t>
            </a:r>
            <a:br>
              <a:rPr lang="en-GB" sz="1600" dirty="0">
                <a:latin typeface="Audi Type Extended" panose="020B0505040200000003" pitchFamily="34" charset="0"/>
                <a:cs typeface="Audi Type Extended" panose="020B0505040200000003" pitchFamily="34" charset="0"/>
              </a:rPr>
            </a:b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棚内或场地内动态示意</a:t>
            </a:r>
            <a:endParaRPr lang="en-GB" sz="2400" dirty="0">
              <a:latin typeface="Microsoft YaHei" panose="020B0503020204020204" pitchFamily="34" charset="-122"/>
              <a:ea typeface="Microsoft YaHei" panose="020B0503020204020204" pitchFamily="34" charset="-122"/>
              <a:cs typeface="Audi Type Extended" panose="020B0505040200000003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 bwMode="gray">
          <a:xfrm>
            <a:off x="695325" y="115897"/>
            <a:ext cx="479195" cy="1584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7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90FA1-1F9D-4CDE-A4EE-4F208B09BCDF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8B007A-7DAC-254D-9C10-35B88751EAD3}"/>
              </a:ext>
            </a:extLst>
          </p:cNvPr>
          <p:cNvGrpSpPr/>
          <p:nvPr/>
        </p:nvGrpSpPr>
        <p:grpSpPr>
          <a:xfrm>
            <a:off x="695325" y="1056640"/>
            <a:ext cx="10170795" cy="5953760"/>
            <a:chOff x="244935" y="212277"/>
            <a:chExt cx="10551781" cy="600173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F4CA5B7-1F34-6E41-A3EF-4095777E7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935" y="213357"/>
              <a:ext cx="3482608" cy="195835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6CDACAE-D2F6-5242-868E-781203A59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9521" y="213356"/>
              <a:ext cx="3482608" cy="195835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5226E2CB-DB02-6847-85CF-10181475E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4109" y="212277"/>
              <a:ext cx="3482607" cy="195835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DCCAF79-020D-244B-8761-69FF52D42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935" y="2250606"/>
              <a:ext cx="3482608" cy="195835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313F937-14B3-C64A-A6BE-04152FF9A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9521" y="2250607"/>
              <a:ext cx="3482608" cy="195835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62D2F04-8DC8-7D4D-A0A3-F9ED6F6DC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4109" y="2226667"/>
              <a:ext cx="3482607" cy="195835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8CE29C4-38AD-7144-9DFD-D5C967B43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4935" y="4255657"/>
              <a:ext cx="3482608" cy="195835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7121B29-1BAD-804B-A7D2-DDBF62966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9521" y="4255657"/>
              <a:ext cx="3482608" cy="195835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3E3E8D2-C673-4647-AEBF-5CA14611C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4109" y="4255657"/>
              <a:ext cx="3482607" cy="1958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86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FD9546CA-4CD9-1747-80A0-383514EA6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1998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1415" y="420254"/>
            <a:ext cx="11341099" cy="612429"/>
          </a:xfrm>
        </p:spPr>
        <p:txBody>
          <a:bodyPr>
            <a:noAutofit/>
          </a:bodyPr>
          <a:lstStyle/>
          <a:p>
            <a:r>
              <a:rPr lang="en-GB" altLang="zh-CN" sz="1200" dirty="0">
                <a:solidFill>
                  <a:srgbClr val="F50537"/>
                </a:solidFill>
                <a:latin typeface="Audi Type Extended" panose="020B0505040200000003" pitchFamily="34" charset="0"/>
                <a:cs typeface="Audi Type Extended" panose="020B0505040200000003" pitchFamily="34" charset="0"/>
              </a:rPr>
              <a:t>2021 GUANGZHOU AUTO</a:t>
            </a:r>
            <a:br>
              <a:rPr lang="en-GB" sz="1600" dirty="0">
                <a:latin typeface="Audi Type Extended" panose="020B0505040200000003" pitchFamily="34" charset="0"/>
                <a:cs typeface="Audi Type Extended" panose="020B0505040200000003" pitchFamily="34" charset="0"/>
              </a:rPr>
            </a:br>
            <a:r>
              <a:rPr lang="en-GB"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udi Type Extended" panose="020B0505040200000003" pitchFamily="34" charset="0"/>
              </a:rPr>
              <a:t>素材信息</a:t>
            </a:r>
            <a:endParaRPr lang="en-GB" sz="2000" dirty="0">
              <a:latin typeface="Microsoft YaHei" panose="020B0503020204020204" pitchFamily="34" charset="-122"/>
              <a:ea typeface="Microsoft YaHei" panose="020B0503020204020204" pitchFamily="34" charset="-122"/>
              <a:cs typeface="Audi Type Extended" panose="020B0505040200000003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 bwMode="gray">
          <a:xfrm>
            <a:off x="695325" y="115897"/>
            <a:ext cx="479195" cy="1584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lang="de-DE" sz="7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90FA1-1F9D-4CDE-A4EE-4F208B09BCDF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EE931CC-7B85-464A-BFD3-DCED06F1321A}"/>
              </a:ext>
            </a:extLst>
          </p:cNvPr>
          <p:cNvSpPr txBox="1"/>
          <p:nvPr/>
        </p:nvSpPr>
        <p:spPr>
          <a:xfrm>
            <a:off x="591415" y="1815038"/>
            <a:ext cx="11336255" cy="3882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2760"/>
              </a:lnSpc>
              <a:spcBef>
                <a:spcPts val="1200"/>
              </a:spcBef>
              <a:buClr>
                <a:srgbClr val="F30436"/>
              </a:buClr>
              <a:defRPr/>
            </a:pPr>
            <a:r>
              <a:rPr lang="zh-CN" altLang="en-US" sz="20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请提供以下规格素材：</a:t>
            </a:r>
            <a:r>
              <a:rPr lang="zh-CN" altLang="en-US" sz="2400" dirty="0">
                <a:solidFill>
                  <a:prstClr val="black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
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分辨率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: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4K </a:t>
            </a:r>
          </a:p>
          <a:p>
            <a:pPr lvl="0">
              <a:lnSpc>
                <a:spcPts val="2760"/>
              </a:lnSpc>
              <a:spcBef>
                <a:spcPts val="1200"/>
              </a:spcBef>
              <a:buClr>
                <a:srgbClr val="F30436"/>
              </a:buClr>
              <a:defRPr/>
            </a:pP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格式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: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h264 .mp4 50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Mbits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 </a:t>
            </a:r>
          </a:p>
          <a:p>
            <a:pPr lvl="0">
              <a:lnSpc>
                <a:spcPts val="2760"/>
              </a:lnSpc>
              <a:spcBef>
                <a:spcPts val="1200"/>
              </a:spcBef>
              <a:buClr>
                <a:srgbClr val="F30436"/>
              </a:buClr>
              <a:defRPr/>
            </a:pPr>
            <a:r>
              <a:rPr lang="zh-CN" altLang="en-US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udi Type" panose="020B0503040200000003" pitchFamily="34" charset="0"/>
              </a:rPr>
              <a:t>帧速率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: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50 fps</a:t>
            </a:r>
          </a:p>
          <a:p>
            <a:pPr marL="0" marR="0" lvl="0" indent="0" algn="l" defTabSz="914400" rtl="0" eaLnBrk="1" fontAlgn="auto" latinLnBrk="0" hangingPunct="1">
              <a:lnSpc>
                <a:spcPts val="2560"/>
              </a:lnSpc>
              <a:spcBef>
                <a:spcPts val="12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560"/>
              </a:lnSpc>
              <a:spcBef>
                <a:spcPts val="12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560"/>
              </a:lnSpc>
              <a:spcBef>
                <a:spcPts val="12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30436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DEADLINE: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30436"/>
                </a:solidFill>
                <a:effectLst/>
                <a:uLnTx/>
                <a:uFillTx/>
                <a:latin typeface="Audi Type" panose="020B0503040200000003" pitchFamily="34" charset="0"/>
                <a:ea typeface="+mn-ea"/>
                <a:cs typeface="Audi Type" panose="020B0503040200000003" pitchFamily="34" charset="0"/>
              </a:rPr>
              <a:t>11/10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30436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360"/>
              </a:lnSpc>
              <a:spcBef>
                <a:spcPts val="1200"/>
              </a:spcBef>
              <a:spcAft>
                <a:spcPts val="0"/>
              </a:spcAft>
              <a:buClr>
                <a:srgbClr val="F30436"/>
              </a:buClr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 panose="020B0503040200000003" pitchFamily="34" charset="0"/>
              <a:ea typeface="+mn-ea"/>
              <a:cs typeface="Audi Type" panose="020B0503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894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246</Words>
  <Application>Microsoft Macintosh PowerPoint</Application>
  <PresentationFormat>宽屏</PresentationFormat>
  <Paragraphs>56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Microsoft YaHei</vt:lpstr>
      <vt:lpstr>Arial</vt:lpstr>
      <vt:lpstr>Audi Type</vt:lpstr>
      <vt:lpstr>Audi Type Extended</vt:lpstr>
      <vt:lpstr>Calibri</vt:lpstr>
      <vt:lpstr>Calibri Light</vt:lpstr>
      <vt:lpstr>Office</vt:lpstr>
      <vt:lpstr>2021 GUANGZHOU AUTO 棚拍要求</vt:lpstr>
      <vt:lpstr>2021 GUANGZHOU AUTO 车身局部拍摄示意</vt:lpstr>
      <vt:lpstr>2021 GUANGZHOU AUTO 棚拍整车外观+内饰示意</vt:lpstr>
      <vt:lpstr>2021 GUANGZHOU AUTO 棚内或场地内动态示意</vt:lpstr>
      <vt:lpstr>2021 GUANGZHOU AUTO 素材信息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SHANGHAI AUTO Reveal sequence Q5L &amp; A7L (general idea)</dc:title>
  <dc:creator>YAO LIN</dc:creator>
  <cp:lastModifiedBy>Kylie Bi</cp:lastModifiedBy>
  <cp:revision>9</cp:revision>
  <dcterms:created xsi:type="dcterms:W3CDTF">2021-03-18T04:36:09Z</dcterms:created>
  <dcterms:modified xsi:type="dcterms:W3CDTF">2021-11-01T12:43:18Z</dcterms:modified>
</cp:coreProperties>
</file>